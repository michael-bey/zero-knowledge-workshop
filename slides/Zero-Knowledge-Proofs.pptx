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8229600" cx="14630400"/>
  <p:notesSz cx="6858000" cy="9144000"/>
  <p:embeddedFontLst>
    <p:embeddedFont>
      <p:font typeface="Playfair Display Medium"/>
      <p:regular r:id="rId41"/>
      <p:bold r:id="rId42"/>
      <p:italic r:id="rId43"/>
      <p:boldItalic r:id="rId44"/>
    </p:embeddedFont>
    <p:embeddedFont>
      <p:font typeface="Catamaran"/>
      <p:regular r:id="rId45"/>
      <p:bold r:id="rId46"/>
    </p:embeddedFont>
    <p:embeddedFont>
      <p:font typeface="Roboto Condensed Medium"/>
      <p:regular r:id="rId47"/>
      <p:bold r:id="rId48"/>
      <p:italic r:id="rId49"/>
      <p:boldItalic r:id="rId50"/>
    </p:embeddedFont>
    <p:embeddedFont>
      <p:font typeface="Plus Jakarta Sans Medium"/>
      <p:regular r:id="rId51"/>
      <p:bold r:id="rId52"/>
      <p:italic r:id="rId53"/>
      <p:boldItalic r:id="rId54"/>
    </p:embeddedFont>
    <p:embeddedFont>
      <p:font typeface="Helvetica Neue"/>
      <p:regular r:id="rId55"/>
      <p:bold r:id="rId56"/>
      <p:italic r:id="rId57"/>
      <p:boldItalic r:id="rId58"/>
    </p:embeddedFont>
    <p:embeddedFont>
      <p:font typeface="Plus Jakarta Sans ExtraBold"/>
      <p:bold r:id="rId59"/>
      <p:boldItalic r:id="rId60"/>
    </p:embeddedFont>
    <p:embeddedFont>
      <p:font typeface="Playfair Display"/>
      <p:regular r:id="rId61"/>
      <p:bold r:id="rId62"/>
      <p:italic r:id="rId63"/>
      <p:boldItalic r:id="rId64"/>
    </p:embeddedFont>
    <p:embeddedFont>
      <p:font typeface="Plus Jakarta Sans"/>
      <p:regular r:id="rId65"/>
      <p:bold r:id="rId66"/>
      <p:italic r:id="rId67"/>
      <p:boldItalic r:id="rId68"/>
    </p:embeddedFont>
    <p:embeddedFont>
      <p:font typeface="Plus Jakarta Sans SemiBold"/>
      <p:regular r:id="rId69"/>
      <p:bold r:id="rId70"/>
      <p:italic r:id="rId71"/>
      <p:boldItalic r:id="rId72"/>
    </p:embeddedFont>
    <p:embeddedFont>
      <p:font typeface="Plus Jakarta Sans Light"/>
      <p:regular r:id="rId73"/>
      <p:bold r:id="rId74"/>
      <p:italic r:id="rId75"/>
      <p:boldItalic r:id="rId76"/>
    </p:embeddedFont>
    <p:embeddedFont>
      <p:font typeface="Spectral"/>
      <p:regular r:id="rId77"/>
      <p:bold r:id="rId78"/>
      <p:italic r:id="rId79"/>
      <p:boldItalic r:id="rId80"/>
    </p:embeddedFont>
    <p:embeddedFont>
      <p:font typeface="Helvetica Neue Light"/>
      <p:regular r:id="rId81"/>
      <p:bold r:id="rId82"/>
      <p:italic r:id="rId83"/>
      <p:boldItalic r:id="rId8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70">
          <p15:clr>
            <a:srgbClr val="747775"/>
          </p15:clr>
        </p15:guide>
      </p15:sldGuideLst>
    </p:ext>
    <p:ext uri="GoogleSlidesCustomDataVersion2">
      <go:slidesCustomData xmlns:go="http://customooxmlschemas.google.com/" r:id="rId85" roundtripDataSignature="AMtx7miz+PHX7ANvD9TTNG01q592B95j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7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84" Type="http://schemas.openxmlformats.org/officeDocument/2006/relationships/font" Target="fonts/HelveticaNeueLight-boldItalic.fntdata"/><Relationship Id="rId83" Type="http://schemas.openxmlformats.org/officeDocument/2006/relationships/font" Target="fonts/HelveticaNeueLight-italic.fntdata"/><Relationship Id="rId42" Type="http://schemas.openxmlformats.org/officeDocument/2006/relationships/font" Target="fonts/PlayfairDisplayMedium-bold.fntdata"/><Relationship Id="rId41" Type="http://schemas.openxmlformats.org/officeDocument/2006/relationships/font" Target="fonts/PlayfairDisplayMedium-regular.fntdata"/><Relationship Id="rId85" Type="http://customschemas.google.com/relationships/presentationmetadata" Target="metadata"/><Relationship Id="rId44" Type="http://schemas.openxmlformats.org/officeDocument/2006/relationships/font" Target="fonts/PlayfairDisplayMedium-boldItalic.fntdata"/><Relationship Id="rId43" Type="http://schemas.openxmlformats.org/officeDocument/2006/relationships/font" Target="fonts/PlayfairDisplayMedium-italic.fntdata"/><Relationship Id="rId46" Type="http://schemas.openxmlformats.org/officeDocument/2006/relationships/font" Target="fonts/Catamaran-bold.fntdata"/><Relationship Id="rId45" Type="http://schemas.openxmlformats.org/officeDocument/2006/relationships/font" Target="fonts/Catamaran-regular.fntdata"/><Relationship Id="rId80" Type="http://schemas.openxmlformats.org/officeDocument/2006/relationships/font" Target="fonts/Spectral-boldItalic.fntdata"/><Relationship Id="rId82" Type="http://schemas.openxmlformats.org/officeDocument/2006/relationships/font" Target="fonts/HelveticaNeueLight-bold.fntdata"/><Relationship Id="rId81" Type="http://schemas.openxmlformats.org/officeDocument/2006/relationships/font" Target="fonts/HelveticaNeue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CondensedMedium-bold.fntdata"/><Relationship Id="rId47" Type="http://schemas.openxmlformats.org/officeDocument/2006/relationships/font" Target="fonts/RobotoCondensedMedium-regular.fntdata"/><Relationship Id="rId49" Type="http://schemas.openxmlformats.org/officeDocument/2006/relationships/font" Target="fonts/RobotoCondensed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PlusJakartaSansLight-regular.fntdata"/><Relationship Id="rId72" Type="http://schemas.openxmlformats.org/officeDocument/2006/relationships/font" Target="fonts/PlusJakartaSansSemiBold-boldItalic.fntdata"/><Relationship Id="rId31" Type="http://schemas.openxmlformats.org/officeDocument/2006/relationships/slide" Target="slides/slide26.xml"/><Relationship Id="rId75" Type="http://schemas.openxmlformats.org/officeDocument/2006/relationships/font" Target="fonts/PlusJakartaSansLight-italic.fntdata"/><Relationship Id="rId30" Type="http://schemas.openxmlformats.org/officeDocument/2006/relationships/slide" Target="slides/slide25.xml"/><Relationship Id="rId74" Type="http://schemas.openxmlformats.org/officeDocument/2006/relationships/font" Target="fonts/PlusJakartaSansLight-bold.fntdata"/><Relationship Id="rId33" Type="http://schemas.openxmlformats.org/officeDocument/2006/relationships/slide" Target="slides/slide28.xml"/><Relationship Id="rId77" Type="http://schemas.openxmlformats.org/officeDocument/2006/relationships/font" Target="fonts/Spectral-regular.fntdata"/><Relationship Id="rId32" Type="http://schemas.openxmlformats.org/officeDocument/2006/relationships/slide" Target="slides/slide27.xml"/><Relationship Id="rId76" Type="http://schemas.openxmlformats.org/officeDocument/2006/relationships/font" Target="fonts/PlusJakartaSansLight-boldItalic.fntdata"/><Relationship Id="rId35" Type="http://schemas.openxmlformats.org/officeDocument/2006/relationships/slide" Target="slides/slide30.xml"/><Relationship Id="rId79" Type="http://schemas.openxmlformats.org/officeDocument/2006/relationships/font" Target="fonts/Spectral-italic.fntdata"/><Relationship Id="rId34" Type="http://schemas.openxmlformats.org/officeDocument/2006/relationships/slide" Target="slides/slide29.xml"/><Relationship Id="rId78" Type="http://schemas.openxmlformats.org/officeDocument/2006/relationships/font" Target="fonts/Spectral-bold.fntdata"/><Relationship Id="rId71" Type="http://schemas.openxmlformats.org/officeDocument/2006/relationships/font" Target="fonts/PlusJakartaSansSemiBold-italic.fntdata"/><Relationship Id="rId70" Type="http://schemas.openxmlformats.org/officeDocument/2006/relationships/font" Target="fonts/PlusJakartaSansSemiBold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layfairDisplay-bold.fntdata"/><Relationship Id="rId61" Type="http://schemas.openxmlformats.org/officeDocument/2006/relationships/font" Target="fonts/PlayfairDisplay-regular.fntdata"/><Relationship Id="rId20" Type="http://schemas.openxmlformats.org/officeDocument/2006/relationships/slide" Target="slides/slide15.xml"/><Relationship Id="rId64" Type="http://schemas.openxmlformats.org/officeDocument/2006/relationships/font" Target="fonts/PlayfairDisplay-boldItalic.fntdata"/><Relationship Id="rId63" Type="http://schemas.openxmlformats.org/officeDocument/2006/relationships/font" Target="fonts/PlayfairDisplay-italic.fntdata"/><Relationship Id="rId22" Type="http://schemas.openxmlformats.org/officeDocument/2006/relationships/slide" Target="slides/slide17.xml"/><Relationship Id="rId66" Type="http://schemas.openxmlformats.org/officeDocument/2006/relationships/font" Target="fonts/PlusJakartaSans-bold.fntdata"/><Relationship Id="rId21" Type="http://schemas.openxmlformats.org/officeDocument/2006/relationships/slide" Target="slides/slide16.xml"/><Relationship Id="rId65" Type="http://schemas.openxmlformats.org/officeDocument/2006/relationships/font" Target="fonts/PlusJakartaSans-regular.fntdata"/><Relationship Id="rId24" Type="http://schemas.openxmlformats.org/officeDocument/2006/relationships/slide" Target="slides/slide19.xml"/><Relationship Id="rId68" Type="http://schemas.openxmlformats.org/officeDocument/2006/relationships/font" Target="fonts/PlusJakartaSans-boldItalic.fntdata"/><Relationship Id="rId23" Type="http://schemas.openxmlformats.org/officeDocument/2006/relationships/slide" Target="slides/slide18.xml"/><Relationship Id="rId67" Type="http://schemas.openxmlformats.org/officeDocument/2006/relationships/font" Target="fonts/PlusJakartaSans-italic.fntdata"/><Relationship Id="rId60" Type="http://schemas.openxmlformats.org/officeDocument/2006/relationships/font" Target="fonts/PlusJakartaSansExtraBold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PlusJakartaSansSemiBold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lusJakartaSansMedium-regular.fntdata"/><Relationship Id="rId50" Type="http://schemas.openxmlformats.org/officeDocument/2006/relationships/font" Target="fonts/RobotoCondensedMedium-boldItalic.fntdata"/><Relationship Id="rId53" Type="http://schemas.openxmlformats.org/officeDocument/2006/relationships/font" Target="fonts/PlusJakartaSansMedium-italic.fntdata"/><Relationship Id="rId52" Type="http://schemas.openxmlformats.org/officeDocument/2006/relationships/font" Target="fonts/PlusJakartaSansMedium-bold.fntdata"/><Relationship Id="rId11" Type="http://schemas.openxmlformats.org/officeDocument/2006/relationships/slide" Target="slides/slide6.xml"/><Relationship Id="rId55" Type="http://schemas.openxmlformats.org/officeDocument/2006/relationships/font" Target="fonts/HelveticaNeue-regular.fntdata"/><Relationship Id="rId10" Type="http://schemas.openxmlformats.org/officeDocument/2006/relationships/slide" Target="slides/slide5.xml"/><Relationship Id="rId54" Type="http://schemas.openxmlformats.org/officeDocument/2006/relationships/font" Target="fonts/PlusJakartaSansMedium-boldItalic.fntdata"/><Relationship Id="rId13" Type="http://schemas.openxmlformats.org/officeDocument/2006/relationships/slide" Target="slides/slide8.xml"/><Relationship Id="rId57" Type="http://schemas.openxmlformats.org/officeDocument/2006/relationships/font" Target="fonts/HelveticaNeue-italic.fntdata"/><Relationship Id="rId12" Type="http://schemas.openxmlformats.org/officeDocument/2006/relationships/slide" Target="slides/slide7.xml"/><Relationship Id="rId56" Type="http://schemas.openxmlformats.org/officeDocument/2006/relationships/font" Target="fonts/HelveticaNeue-bold.fntdata"/><Relationship Id="rId15" Type="http://schemas.openxmlformats.org/officeDocument/2006/relationships/slide" Target="slides/slide10.xml"/><Relationship Id="rId59" Type="http://schemas.openxmlformats.org/officeDocument/2006/relationships/font" Target="fonts/PlusJakartaSansExtraBold-bold.fntdata"/><Relationship Id="rId14" Type="http://schemas.openxmlformats.org/officeDocument/2006/relationships/slide" Target="slides/slide9.xml"/><Relationship Id="rId58" Type="http://schemas.openxmlformats.org/officeDocument/2006/relationships/font" Target="fonts/HelveticaNeue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230" name="Google Shape;23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239" name="Google Shape;23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249" name="Google Shape;24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258" name="Google Shape;25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21b3ed96c5e600a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h21b3ed96c5e600a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CUSTOM_2_1_1_1_2_2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0" title="Payward Pattern Backgrounds.png"/>
          <p:cNvPicPr preferRelativeResize="0"/>
          <p:nvPr/>
        </p:nvPicPr>
        <p:blipFill rotWithShape="1">
          <a:blip r:embed="rId2">
            <a:alphaModFix/>
          </a:blip>
          <a:srcRect b="4128" l="0" r="0" t="4128"/>
          <a:stretch/>
        </p:blipFill>
        <p:spPr>
          <a:xfrm>
            <a:off x="2669825" y="0"/>
            <a:ext cx="11960573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0"/>
          <p:cNvSpPr/>
          <p:nvPr/>
        </p:nvSpPr>
        <p:spPr>
          <a:xfrm>
            <a:off x="12424320" y="7494720"/>
            <a:ext cx="1771800" cy="228600"/>
          </a:xfrm>
          <a:prstGeom prst="roundRect">
            <a:avLst>
              <a:gd fmla="val 50000" name="adj"/>
            </a:avLst>
          </a:prstGeom>
          <a:solidFill>
            <a:srgbClr val="99999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l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Privileged &amp; Confidential</a:t>
            </a:r>
            <a:endParaRPr b="0" i="0" sz="960" u="none" cap="none" strike="noStrike">
              <a:solidFill>
                <a:schemeClr val="l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2" name="Google Shape;12;p60"/>
          <p:cNvSpPr txBox="1"/>
          <p:nvPr>
            <p:ph idx="12" type="sldNum"/>
          </p:nvPr>
        </p:nvSpPr>
        <p:spPr>
          <a:xfrm>
            <a:off x="457200" y="7600330"/>
            <a:ext cx="272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61">
          <p15:clr>
            <a:srgbClr val="E46962"/>
          </p15:clr>
        </p15:guide>
        <p15:guide id="2" pos="4608">
          <p15:clr>
            <a:srgbClr val="E46962"/>
          </p15:clr>
        </p15:guide>
        <p15:guide id="3" pos="8755">
          <p15:clr>
            <a:srgbClr val="E46962"/>
          </p15:clr>
        </p15:guide>
        <p15:guide id="4" orient="horz" pos="461">
          <p15:clr>
            <a:srgbClr val="E46962"/>
          </p15:clr>
        </p15:guide>
        <p15:guide id="5" orient="horz" pos="3041">
          <p15:clr>
            <a:srgbClr val="E46962"/>
          </p15:clr>
        </p15:guide>
        <p15:guide id="6" orient="horz" pos="4608">
          <p15:clr>
            <a:srgbClr val="E46962"/>
          </p15:clr>
        </p15:guide>
        <p15:guide id="7" orient="horz" pos="319">
          <p15:clr>
            <a:srgbClr val="E46962"/>
          </p15:clr>
        </p15:guide>
        <p15:guide id="8" pos="310">
          <p15:clr>
            <a:srgbClr val="E46962"/>
          </p15:clr>
        </p15:guide>
        <p15:guide id="9" pos="8906">
          <p15:clr>
            <a:srgbClr val="E46962"/>
          </p15:clr>
        </p15:guide>
        <p15:guide id="10" orient="horz" pos="4865">
          <p15:clr>
            <a:srgbClr val="E46962"/>
          </p15:clr>
        </p15:guide>
        <p15:guide id="11" orient="horz" pos="1362">
          <p15:clr>
            <a:srgbClr val="E46962"/>
          </p15:clr>
        </p15:guide>
        <p15:guide id="12" orient="horz" pos="2074">
          <p15:clr>
            <a:srgbClr val="E46962"/>
          </p15:clr>
        </p15:guide>
        <p15:guide id="13" pos="2918">
          <p15:clr>
            <a:srgbClr val="E46962"/>
          </p15:clr>
        </p15:guide>
        <p15:guide id="14" pos="3379">
          <p15:clr>
            <a:srgbClr val="E46962"/>
          </p15:clr>
        </p15:guide>
        <p15:guide id="15" pos="5837">
          <p15:clr>
            <a:srgbClr val="E46962"/>
          </p15:clr>
        </p15:guide>
        <p15:guide id="16" pos="6298">
          <p15:clr>
            <a:srgbClr val="E46962"/>
          </p15:clr>
        </p15:guide>
        <p15:guide id="17" pos="4378">
          <p15:clr>
            <a:srgbClr val="E46962"/>
          </p15:clr>
        </p15:guide>
        <p15:guide id="18" pos="4838">
          <p15:clr>
            <a:srgbClr val="E46962"/>
          </p15:clr>
        </p15:guide>
        <p15:guide id="19" orient="horz" pos="357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yward_Content_B">
  <p:cSld name="CUSTOM_2_1_1_1_2_1_1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1"/>
          <p:cNvSpPr/>
          <p:nvPr/>
        </p:nvSpPr>
        <p:spPr>
          <a:xfrm>
            <a:off x="12366120" y="7494720"/>
            <a:ext cx="1771800" cy="228600"/>
          </a:xfrm>
          <a:prstGeom prst="roundRect">
            <a:avLst>
              <a:gd fmla="val 50000" name="adj"/>
            </a:avLst>
          </a:prstGeom>
          <a:solidFill>
            <a:srgbClr val="99999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l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Privileged &amp; Confidential</a:t>
            </a:r>
            <a:endParaRPr b="0" i="0" sz="960" u="none" cap="none" strike="noStrike">
              <a:solidFill>
                <a:schemeClr val="l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5" name="Google Shape;15;p61"/>
          <p:cNvSpPr txBox="1"/>
          <p:nvPr>
            <p:ph idx="12" type="sldNum"/>
          </p:nvPr>
        </p:nvSpPr>
        <p:spPr>
          <a:xfrm>
            <a:off x="492475" y="7600325"/>
            <a:ext cx="1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61"/>
          <p:cNvSpPr txBox="1"/>
          <p:nvPr/>
        </p:nvSpPr>
        <p:spPr>
          <a:xfrm>
            <a:off x="731525" y="7600330"/>
            <a:ext cx="47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Corporate Presentation Template</a:t>
            </a:r>
            <a:endParaRPr b="0" i="0" sz="800" u="none" cap="none" strike="noStrike">
              <a:solidFill>
                <a:srgbClr val="9E9E9E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pic>
        <p:nvPicPr>
          <p:cNvPr id="17" name="Google Shape;17;p61" title="Color=Black, Format=Small@4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716004" y="506446"/>
            <a:ext cx="421925" cy="4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1">
          <p15:clr>
            <a:srgbClr val="E46962"/>
          </p15:clr>
        </p15:guide>
        <p15:guide id="2" pos="4608">
          <p15:clr>
            <a:srgbClr val="E46962"/>
          </p15:clr>
        </p15:guide>
        <p15:guide id="3" pos="8640">
          <p15:clr>
            <a:srgbClr val="E46962"/>
          </p15:clr>
        </p15:guide>
        <p15:guide id="4" orient="horz" pos="461">
          <p15:clr>
            <a:srgbClr val="E46962"/>
          </p15:clr>
        </p15:guide>
        <p15:guide id="5" orient="horz" pos="3041">
          <p15:clr>
            <a:srgbClr val="E46962"/>
          </p15:clr>
        </p15:guide>
        <p15:guide id="6" orient="horz" pos="4608">
          <p15:clr>
            <a:srgbClr val="E46962"/>
          </p15:clr>
        </p15:guide>
        <p15:guide id="7" orient="horz" pos="319">
          <p15:clr>
            <a:srgbClr val="E46962"/>
          </p15:clr>
        </p15:guide>
        <p15:guide id="8" pos="310">
          <p15:clr>
            <a:srgbClr val="E46962"/>
          </p15:clr>
        </p15:guide>
        <p15:guide id="9" pos="8906">
          <p15:clr>
            <a:srgbClr val="E46962"/>
          </p15:clr>
        </p15:guide>
        <p15:guide id="10" orient="horz" pos="4865">
          <p15:clr>
            <a:srgbClr val="E46962"/>
          </p15:clr>
        </p15:guide>
        <p15:guide id="11" orient="horz" pos="1362">
          <p15:clr>
            <a:srgbClr val="E46962"/>
          </p15:clr>
        </p15:guide>
        <p15:guide id="12" orient="horz" pos="2074">
          <p15:clr>
            <a:srgbClr val="E46962"/>
          </p15:clr>
        </p15:guide>
        <p15:guide id="13" pos="2918">
          <p15:clr>
            <a:srgbClr val="E46962"/>
          </p15:clr>
        </p15:guide>
        <p15:guide id="14" pos="3379">
          <p15:clr>
            <a:srgbClr val="E46962"/>
          </p15:clr>
        </p15:guide>
        <p15:guide id="15" pos="5837">
          <p15:clr>
            <a:srgbClr val="E46962"/>
          </p15:clr>
        </p15:guide>
        <p15:guide id="16" pos="6298">
          <p15:clr>
            <a:srgbClr val="E46962"/>
          </p15:clr>
        </p15:guide>
        <p15:guide id="17" pos="4378">
          <p15:clr>
            <a:srgbClr val="E46962"/>
          </p15:clr>
        </p15:guide>
        <p15:guide id="18" pos="4838">
          <p15:clr>
            <a:srgbClr val="E46962"/>
          </p15:clr>
        </p15:guide>
        <p15:guide id="19" orient="horz" pos="3571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copy" showMasterSp="0">
  <p:cSld name="Quote cop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/>
          <p:nvPr/>
        </p:nvSpPr>
        <p:spPr>
          <a:xfrm>
            <a:off x="1582" y="0"/>
            <a:ext cx="14627100" cy="1545000"/>
          </a:xfrm>
          <a:prstGeom prst="rect">
            <a:avLst/>
          </a:prstGeom>
          <a:solidFill>
            <a:srgbClr val="0B0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venir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Kraken-lockup-new-nobg.png" id="20" name="Google Shape;20;p62"/>
          <p:cNvPicPr preferRelativeResize="0"/>
          <p:nvPr/>
        </p:nvPicPr>
        <p:blipFill rotWithShape="1">
          <a:blip r:embed="rId2">
            <a:alphaModFix/>
          </a:blip>
          <a:srcRect b="0" l="0" r="78999" t="0"/>
          <a:stretch/>
        </p:blipFill>
        <p:spPr>
          <a:xfrm>
            <a:off x="13874091" y="151447"/>
            <a:ext cx="561958" cy="42857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62"/>
          <p:cNvSpPr txBox="1"/>
          <p:nvPr>
            <p:ph type="title"/>
          </p:nvPr>
        </p:nvSpPr>
        <p:spPr>
          <a:xfrm>
            <a:off x="580716" y="8688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>
            <a:lvl1pPr lv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  <a:defRPr sz="3700">
                <a:solidFill>
                  <a:srgbClr val="FC9E1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800"/>
            </a:lvl9pPr>
          </a:lstStyle>
          <a:p/>
        </p:txBody>
      </p:sp>
      <p:sp>
        <p:nvSpPr>
          <p:cNvPr id="22" name="Google Shape;22;p62"/>
          <p:cNvSpPr txBox="1"/>
          <p:nvPr>
            <p:ph idx="12" type="sldNum"/>
          </p:nvPr>
        </p:nvSpPr>
        <p:spPr>
          <a:xfrm>
            <a:off x="7175419" y="7848600"/>
            <a:ext cx="2721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30475" spcFirstLastPara="1" rIns="30475" wrap="square" tIns="3047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None/>
              <a:defRPr b="0" i="0" sz="14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None/>
              <a:defRPr b="0" i="0" sz="14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None/>
              <a:defRPr b="0" i="0" sz="14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None/>
              <a:defRPr b="0" i="0" sz="14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None/>
              <a:defRPr b="0" i="0" sz="14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None/>
              <a:defRPr b="0" i="0" sz="14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None/>
              <a:defRPr b="0" i="0" sz="14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None/>
              <a:defRPr b="0" i="0" sz="14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None/>
              <a:defRPr b="0" i="0" sz="14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62"/>
          <p:cNvSpPr txBox="1"/>
          <p:nvPr/>
        </p:nvSpPr>
        <p:spPr>
          <a:xfrm>
            <a:off x="12354713" y="7848600"/>
            <a:ext cx="20814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CB"/>
              </a:buClr>
              <a:buSzPts val="1100"/>
              <a:buFont typeface="Avenir"/>
              <a:buNone/>
            </a:pPr>
            <a:r>
              <a:rPr b="0" i="1" lang="en" sz="1100" u="none" cap="none" strike="noStrike">
                <a:solidFill>
                  <a:srgbClr val="4129CB"/>
                </a:solidFill>
                <a:latin typeface="Avenir"/>
                <a:ea typeface="Avenir"/>
                <a:cs typeface="Avenir"/>
                <a:sym typeface="Avenir"/>
              </a:rPr>
              <a:t>confidential: for internal use only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yward_Content_B_nologo">
  <p:cSld name="CUSTOM_2_1_1_1_2_1_1_1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3"/>
          <p:cNvSpPr/>
          <p:nvPr/>
        </p:nvSpPr>
        <p:spPr>
          <a:xfrm>
            <a:off x="12366120" y="7494720"/>
            <a:ext cx="1771800" cy="228600"/>
          </a:xfrm>
          <a:prstGeom prst="roundRect">
            <a:avLst>
              <a:gd fmla="val 50000" name="adj"/>
            </a:avLst>
          </a:prstGeom>
          <a:solidFill>
            <a:srgbClr val="99999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l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Privileged &amp; Confidential</a:t>
            </a:r>
            <a:endParaRPr b="0" i="0" sz="960" u="none" cap="none" strike="noStrike">
              <a:solidFill>
                <a:schemeClr val="l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6" name="Google Shape;26;p63"/>
          <p:cNvSpPr txBox="1"/>
          <p:nvPr>
            <p:ph idx="12" type="sldNum"/>
          </p:nvPr>
        </p:nvSpPr>
        <p:spPr>
          <a:xfrm>
            <a:off x="492475" y="7600325"/>
            <a:ext cx="1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63"/>
          <p:cNvSpPr txBox="1"/>
          <p:nvPr/>
        </p:nvSpPr>
        <p:spPr>
          <a:xfrm>
            <a:off x="731525" y="7600330"/>
            <a:ext cx="47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Corporate Presentation Template</a:t>
            </a:r>
            <a:endParaRPr b="0" i="0" sz="800" u="none" cap="none" strike="noStrike">
              <a:solidFill>
                <a:srgbClr val="9E9E9E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61">
          <p15:clr>
            <a:srgbClr val="E46962"/>
          </p15:clr>
        </p15:guide>
        <p15:guide id="2" pos="4608">
          <p15:clr>
            <a:srgbClr val="E46962"/>
          </p15:clr>
        </p15:guide>
        <p15:guide id="3" pos="8640">
          <p15:clr>
            <a:srgbClr val="E46962"/>
          </p15:clr>
        </p15:guide>
        <p15:guide id="4" orient="horz" pos="461">
          <p15:clr>
            <a:srgbClr val="E46962"/>
          </p15:clr>
        </p15:guide>
        <p15:guide id="5" orient="horz" pos="3041">
          <p15:clr>
            <a:srgbClr val="E46962"/>
          </p15:clr>
        </p15:guide>
        <p15:guide id="6" orient="horz" pos="4608">
          <p15:clr>
            <a:srgbClr val="E46962"/>
          </p15:clr>
        </p15:guide>
        <p15:guide id="7" orient="horz" pos="319">
          <p15:clr>
            <a:srgbClr val="E46962"/>
          </p15:clr>
        </p15:guide>
        <p15:guide id="8" pos="310">
          <p15:clr>
            <a:srgbClr val="E46962"/>
          </p15:clr>
        </p15:guide>
        <p15:guide id="9" pos="8906">
          <p15:clr>
            <a:srgbClr val="E46962"/>
          </p15:clr>
        </p15:guide>
        <p15:guide id="10" orient="horz" pos="4865">
          <p15:clr>
            <a:srgbClr val="E46962"/>
          </p15:clr>
        </p15:guide>
        <p15:guide id="11" orient="horz" pos="1362">
          <p15:clr>
            <a:srgbClr val="E46962"/>
          </p15:clr>
        </p15:guide>
        <p15:guide id="12" orient="horz" pos="2074">
          <p15:clr>
            <a:srgbClr val="E46962"/>
          </p15:clr>
        </p15:guide>
        <p15:guide id="13" pos="2918">
          <p15:clr>
            <a:srgbClr val="E46962"/>
          </p15:clr>
        </p15:guide>
        <p15:guide id="14" pos="3379">
          <p15:clr>
            <a:srgbClr val="E46962"/>
          </p15:clr>
        </p15:guide>
        <p15:guide id="15" pos="5837">
          <p15:clr>
            <a:srgbClr val="E46962"/>
          </p15:clr>
        </p15:guide>
        <p15:guide id="16" pos="6298">
          <p15:clr>
            <a:srgbClr val="E46962"/>
          </p15:clr>
        </p15:guide>
        <p15:guide id="17" pos="4378">
          <p15:clr>
            <a:srgbClr val="E46962"/>
          </p15:clr>
        </p15:guide>
        <p15:guide id="18" pos="4838">
          <p15:clr>
            <a:srgbClr val="E46962"/>
          </p15:clr>
        </p15:guide>
        <p15:guide id="19" orient="horz" pos="3571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yward_Content_W ">
  <p:cSld name="CUSTOM_2_1_1_1_2_1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4"/>
          <p:cNvSpPr/>
          <p:nvPr/>
        </p:nvSpPr>
        <p:spPr>
          <a:xfrm>
            <a:off x="12366120" y="7494720"/>
            <a:ext cx="1771800" cy="228600"/>
          </a:xfrm>
          <a:prstGeom prst="roundRect">
            <a:avLst>
              <a:gd fmla="val 50000" name="adj"/>
            </a:avLst>
          </a:prstGeom>
          <a:solidFill>
            <a:srgbClr val="99999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Privileged &amp; Confidential</a:t>
            </a:r>
            <a:endParaRPr b="0" i="0" sz="960" u="none" cap="none" strike="noStrike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0" name="Google Shape;30;p64"/>
          <p:cNvSpPr txBox="1"/>
          <p:nvPr>
            <p:ph idx="12" type="sldNum"/>
          </p:nvPr>
        </p:nvSpPr>
        <p:spPr>
          <a:xfrm>
            <a:off x="492475" y="7600325"/>
            <a:ext cx="1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64"/>
          <p:cNvSpPr txBox="1"/>
          <p:nvPr/>
        </p:nvSpPr>
        <p:spPr>
          <a:xfrm>
            <a:off x="731525" y="7600330"/>
            <a:ext cx="47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Corporate Presentation Template</a:t>
            </a:r>
            <a:endParaRPr b="0" i="0" sz="800" u="none" cap="none" strike="noStrike">
              <a:solidFill>
                <a:srgbClr val="9E9E9E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pic>
        <p:nvPicPr>
          <p:cNvPr id="32" name="Google Shape;32;p64" title="Color=Black, Format=Small@4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716004" y="506446"/>
            <a:ext cx="421925" cy="4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1">
          <p15:clr>
            <a:srgbClr val="E46962"/>
          </p15:clr>
        </p15:guide>
        <p15:guide id="2" pos="4608">
          <p15:clr>
            <a:srgbClr val="E46962"/>
          </p15:clr>
        </p15:guide>
        <p15:guide id="3" orient="horz" pos="461">
          <p15:clr>
            <a:srgbClr val="E46962"/>
          </p15:clr>
        </p15:guide>
        <p15:guide id="4" orient="horz" pos="3041">
          <p15:clr>
            <a:srgbClr val="E46962"/>
          </p15:clr>
        </p15:guide>
        <p15:guide id="5" orient="horz" pos="4464">
          <p15:clr>
            <a:srgbClr val="E46962"/>
          </p15:clr>
        </p15:guide>
        <p15:guide id="6" orient="horz" pos="319">
          <p15:clr>
            <a:srgbClr val="E46962"/>
          </p15:clr>
        </p15:guide>
        <p15:guide id="7" pos="310">
          <p15:clr>
            <a:srgbClr val="E46962"/>
          </p15:clr>
        </p15:guide>
        <p15:guide id="8" pos="8906">
          <p15:clr>
            <a:srgbClr val="E46962"/>
          </p15:clr>
        </p15:guide>
        <p15:guide id="9" orient="horz" pos="4865">
          <p15:clr>
            <a:srgbClr val="E46962"/>
          </p15:clr>
        </p15:guide>
        <p15:guide id="10" orient="horz" pos="1440">
          <p15:clr>
            <a:srgbClr val="E46962"/>
          </p15:clr>
        </p15:guide>
        <p15:guide id="11" orient="horz" pos="2074">
          <p15:clr>
            <a:srgbClr val="E46962"/>
          </p15:clr>
        </p15:guide>
        <p15:guide id="12" pos="3125">
          <p15:clr>
            <a:srgbClr val="E46962"/>
          </p15:clr>
        </p15:guide>
        <p15:guide id="13" pos="3276">
          <p15:clr>
            <a:srgbClr val="E46962"/>
          </p15:clr>
        </p15:guide>
        <p15:guide id="14" pos="5940">
          <p15:clr>
            <a:srgbClr val="E46962"/>
          </p15:clr>
        </p15:guide>
        <p15:guide id="15" pos="6091">
          <p15:clr>
            <a:srgbClr val="E46962"/>
          </p15:clr>
        </p15:guide>
        <p15:guide id="16" pos="4378">
          <p15:clr>
            <a:srgbClr val="E46962"/>
          </p15:clr>
        </p15:guide>
        <p15:guide id="17" pos="4838">
          <p15:clr>
            <a:srgbClr val="E46962"/>
          </p15:clr>
        </p15:guide>
        <p15:guide id="18" orient="horz" pos="3571">
          <p15:clr>
            <a:srgbClr val="E46962"/>
          </p15:clr>
        </p15:guide>
        <p15:guide id="19" pos="8755">
          <p15:clr>
            <a:srgbClr val="E46962"/>
          </p15:clr>
        </p15:guide>
        <p15:guide id="20" pos="4533">
          <p15:clr>
            <a:srgbClr val="E46962"/>
          </p15:clr>
        </p15:guide>
        <p15:guide id="21" pos="468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Black">
  <p:cSld name="TITLE_AND_BODY_4_5"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5" title="logoPayward.png"/>
          <p:cNvPicPr preferRelativeResize="0"/>
          <p:nvPr/>
        </p:nvPicPr>
        <p:blipFill rotWithShape="1">
          <a:blip r:embed="rId2">
            <a:alphaModFix/>
          </a:blip>
          <a:srcRect b="24056" l="-3613" r="-3602" t="-11883"/>
          <a:stretch/>
        </p:blipFill>
        <p:spPr>
          <a:xfrm>
            <a:off x="0" y="6579400"/>
            <a:ext cx="14630400" cy="16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65" title="Color=Black, Format=Small@4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4" y="506446"/>
            <a:ext cx="421925" cy="4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2_1_1_1_2"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6"/>
          <p:cNvSpPr/>
          <p:nvPr/>
        </p:nvSpPr>
        <p:spPr>
          <a:xfrm>
            <a:off x="12424320" y="7494720"/>
            <a:ext cx="1771800" cy="228600"/>
          </a:xfrm>
          <a:prstGeom prst="roundRect">
            <a:avLst>
              <a:gd fmla="val 50000" name="adj"/>
            </a:avLst>
          </a:prstGeom>
          <a:solidFill>
            <a:srgbClr val="99999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l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Privileged &amp; Confidential</a:t>
            </a:r>
            <a:endParaRPr b="0" i="0" sz="960" u="none" cap="none" strike="noStrike">
              <a:solidFill>
                <a:schemeClr val="l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8" name="Google Shape;38;p66"/>
          <p:cNvSpPr txBox="1"/>
          <p:nvPr>
            <p:ph idx="12" type="sldNum"/>
          </p:nvPr>
        </p:nvSpPr>
        <p:spPr>
          <a:xfrm>
            <a:off x="457200" y="7600330"/>
            <a:ext cx="272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66"/>
          <p:cNvSpPr txBox="1"/>
          <p:nvPr/>
        </p:nvSpPr>
        <p:spPr>
          <a:xfrm>
            <a:off x="915725" y="7600330"/>
            <a:ext cx="47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Corporate Presentation Template</a:t>
            </a:r>
            <a:endParaRPr b="0" i="0" sz="800" u="none" cap="none" strike="noStrike">
              <a:solidFill>
                <a:srgbClr val="9E9E9E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61">
          <p15:clr>
            <a:srgbClr val="E46962"/>
          </p15:clr>
        </p15:guide>
        <p15:guide id="2" pos="4608">
          <p15:clr>
            <a:srgbClr val="E46962"/>
          </p15:clr>
        </p15:guide>
        <p15:guide id="3" pos="8755">
          <p15:clr>
            <a:srgbClr val="E46962"/>
          </p15:clr>
        </p15:guide>
        <p15:guide id="4" orient="horz" pos="461">
          <p15:clr>
            <a:srgbClr val="E46962"/>
          </p15:clr>
        </p15:guide>
        <p15:guide id="5" orient="horz" pos="3041">
          <p15:clr>
            <a:srgbClr val="E46962"/>
          </p15:clr>
        </p15:guide>
        <p15:guide id="6" orient="horz" pos="4608">
          <p15:clr>
            <a:srgbClr val="E46962"/>
          </p15:clr>
        </p15:guide>
        <p15:guide id="7" orient="horz" pos="319">
          <p15:clr>
            <a:srgbClr val="E46962"/>
          </p15:clr>
        </p15:guide>
        <p15:guide id="8" pos="310">
          <p15:clr>
            <a:srgbClr val="E46962"/>
          </p15:clr>
        </p15:guide>
        <p15:guide id="9" pos="8906">
          <p15:clr>
            <a:srgbClr val="E46962"/>
          </p15:clr>
        </p15:guide>
        <p15:guide id="10" orient="horz" pos="4865">
          <p15:clr>
            <a:srgbClr val="E46962"/>
          </p15:clr>
        </p15:guide>
        <p15:guide id="11" orient="horz" pos="1362">
          <p15:clr>
            <a:srgbClr val="E46962"/>
          </p15:clr>
        </p15:guide>
        <p15:guide id="12" orient="horz" pos="2074">
          <p15:clr>
            <a:srgbClr val="E46962"/>
          </p15:clr>
        </p15:guide>
        <p15:guide id="13" pos="2918">
          <p15:clr>
            <a:srgbClr val="E46962"/>
          </p15:clr>
        </p15:guide>
        <p15:guide id="14" pos="3379">
          <p15:clr>
            <a:srgbClr val="E46962"/>
          </p15:clr>
        </p15:guide>
        <p15:guide id="15" pos="5837">
          <p15:clr>
            <a:srgbClr val="E46962"/>
          </p15:clr>
        </p15:guide>
        <p15:guide id="16" pos="6298">
          <p15:clr>
            <a:srgbClr val="E46962"/>
          </p15:clr>
        </p15:guide>
        <p15:guide id="17" pos="4378">
          <p15:clr>
            <a:srgbClr val="E46962"/>
          </p15:clr>
        </p15:guide>
        <p15:guide id="18" pos="4838">
          <p15:clr>
            <a:srgbClr val="E46962"/>
          </p15:clr>
        </p15:guide>
        <p15:guide id="19" orient="horz" pos="3571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yward_Content_W  1">
  <p:cSld name="CUSTOM_2_1_1_1_2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7"/>
          <p:cNvSpPr/>
          <p:nvPr/>
        </p:nvSpPr>
        <p:spPr>
          <a:xfrm>
            <a:off x="12366120" y="7494720"/>
            <a:ext cx="1771800" cy="228600"/>
          </a:xfrm>
          <a:prstGeom prst="roundRect">
            <a:avLst>
              <a:gd fmla="val 50000" name="adj"/>
            </a:avLst>
          </a:prstGeom>
          <a:solidFill>
            <a:srgbClr val="99999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Privileged &amp; Confidential</a:t>
            </a:r>
            <a:endParaRPr b="0" i="0" sz="960" u="none" cap="none" strike="noStrike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2" name="Google Shape;42;p67"/>
          <p:cNvSpPr txBox="1"/>
          <p:nvPr>
            <p:ph idx="12" type="sldNum"/>
          </p:nvPr>
        </p:nvSpPr>
        <p:spPr>
          <a:xfrm>
            <a:off x="492475" y="7600325"/>
            <a:ext cx="1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7"/>
          <p:cNvSpPr txBox="1"/>
          <p:nvPr/>
        </p:nvSpPr>
        <p:spPr>
          <a:xfrm>
            <a:off x="731525" y="7600330"/>
            <a:ext cx="47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Corporate Presentation Template</a:t>
            </a:r>
            <a:endParaRPr b="0" i="0" sz="800" u="none" cap="none" strike="noStrike">
              <a:solidFill>
                <a:srgbClr val="9E9E9E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grpSp>
        <p:nvGrpSpPr>
          <p:cNvPr id="44" name="Google Shape;44;p67"/>
          <p:cNvGrpSpPr/>
          <p:nvPr/>
        </p:nvGrpSpPr>
        <p:grpSpPr>
          <a:xfrm>
            <a:off x="0" y="0"/>
            <a:ext cx="14630400" cy="506400"/>
            <a:chOff x="0" y="0"/>
            <a:chExt cx="14630400" cy="506400"/>
          </a:xfrm>
        </p:grpSpPr>
        <p:sp>
          <p:nvSpPr>
            <p:cNvPr id="45" name="Google Shape;45;p67"/>
            <p:cNvSpPr/>
            <p:nvPr/>
          </p:nvSpPr>
          <p:spPr>
            <a:xfrm>
              <a:off x="0" y="0"/>
              <a:ext cx="14630400" cy="506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pic>
          <p:nvPicPr>
            <p:cNvPr id="46" name="Google Shape;46;p67" title="logoPayward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3244580" y="191700"/>
              <a:ext cx="893343" cy="123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pos="461">
          <p15:clr>
            <a:srgbClr val="E46962"/>
          </p15:clr>
        </p15:guide>
        <p15:guide id="2" pos="4608">
          <p15:clr>
            <a:srgbClr val="E46962"/>
          </p15:clr>
        </p15:guide>
        <p15:guide id="3" pos="8640">
          <p15:clr>
            <a:srgbClr val="E46962"/>
          </p15:clr>
        </p15:guide>
        <p15:guide id="4" orient="horz" pos="461">
          <p15:clr>
            <a:srgbClr val="E46962"/>
          </p15:clr>
        </p15:guide>
        <p15:guide id="5" orient="horz" pos="3041">
          <p15:clr>
            <a:srgbClr val="E46962"/>
          </p15:clr>
        </p15:guide>
        <p15:guide id="6" orient="horz" pos="4608">
          <p15:clr>
            <a:srgbClr val="E46962"/>
          </p15:clr>
        </p15:guide>
        <p15:guide id="7" orient="horz" pos="319">
          <p15:clr>
            <a:srgbClr val="E46962"/>
          </p15:clr>
        </p15:guide>
        <p15:guide id="8" pos="310">
          <p15:clr>
            <a:srgbClr val="E46962"/>
          </p15:clr>
        </p15:guide>
        <p15:guide id="9" pos="8906">
          <p15:clr>
            <a:srgbClr val="E46962"/>
          </p15:clr>
        </p15:guide>
        <p15:guide id="10" orient="horz" pos="4865">
          <p15:clr>
            <a:srgbClr val="E46962"/>
          </p15:clr>
        </p15:guide>
        <p15:guide id="11" orient="horz" pos="1362">
          <p15:clr>
            <a:srgbClr val="E46962"/>
          </p15:clr>
        </p15:guide>
        <p15:guide id="12" orient="horz" pos="2074">
          <p15:clr>
            <a:srgbClr val="E46962"/>
          </p15:clr>
        </p15:guide>
        <p15:guide id="13" pos="2918">
          <p15:clr>
            <a:srgbClr val="E46962"/>
          </p15:clr>
        </p15:guide>
        <p15:guide id="14" pos="3379">
          <p15:clr>
            <a:srgbClr val="E46962"/>
          </p15:clr>
        </p15:guide>
        <p15:guide id="15" pos="5837">
          <p15:clr>
            <a:srgbClr val="E46962"/>
          </p15:clr>
        </p15:guide>
        <p15:guide id="16" pos="6298">
          <p15:clr>
            <a:srgbClr val="E46962"/>
          </p15:clr>
        </p15:guide>
        <p15:guide id="17" pos="4378">
          <p15:clr>
            <a:srgbClr val="E46962"/>
          </p15:clr>
        </p15:guide>
        <p15:guide id="18" pos="4838">
          <p15:clr>
            <a:srgbClr val="E46962"/>
          </p15:clr>
        </p15:guide>
        <p15:guide id="19" orient="horz" pos="3571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Light">
  <p:cSld name="CUSTOM_2_1_1_1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8"/>
          <p:cNvPicPr preferRelativeResize="0"/>
          <p:nvPr/>
        </p:nvPicPr>
        <p:blipFill rotWithShape="1">
          <a:blip r:embed="rId2">
            <a:alphaModFix amt="21000"/>
          </a:blip>
          <a:srcRect b="21612" l="21184" r="21761" t="0"/>
          <a:stretch/>
        </p:blipFill>
        <p:spPr>
          <a:xfrm>
            <a:off x="13840789" y="506441"/>
            <a:ext cx="297134" cy="22507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8"/>
          <p:cNvSpPr txBox="1"/>
          <p:nvPr/>
        </p:nvSpPr>
        <p:spPr>
          <a:xfrm>
            <a:off x="731520" y="7315201"/>
            <a:ext cx="877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fld id="{00000000-1234-1234-1234-123412341234}" type="slidenum">
              <a:rPr b="0" i="1" lang="en" sz="960" u="none" cap="none" strike="noStrike">
                <a:solidFill>
                  <a:srgbClr val="0A0419"/>
                </a:solidFill>
                <a:latin typeface="Spectral"/>
                <a:ea typeface="Spectral"/>
                <a:cs typeface="Spectral"/>
                <a:sym typeface="Spectral"/>
              </a:rPr>
              <a:t>‹#›</a:t>
            </a:fld>
            <a:endParaRPr b="0" i="1" sz="960" u="none" cap="none" strike="noStrike">
              <a:solidFill>
                <a:srgbClr val="0A0419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61">
          <p15:clr>
            <a:srgbClr val="E46962"/>
          </p15:clr>
        </p15:guide>
        <p15:guide id="2" pos="4608">
          <p15:clr>
            <a:srgbClr val="E46962"/>
          </p15:clr>
        </p15:guide>
        <p15:guide id="3" pos="8755">
          <p15:clr>
            <a:srgbClr val="E46962"/>
          </p15:clr>
        </p15:guide>
        <p15:guide id="4" orient="horz" pos="461">
          <p15:clr>
            <a:srgbClr val="E46962"/>
          </p15:clr>
        </p15:guide>
        <p15:guide id="5" orient="horz" pos="3041">
          <p15:clr>
            <a:srgbClr val="E46962"/>
          </p15:clr>
        </p15:guide>
        <p15:guide id="6" orient="horz" pos="4608">
          <p15:clr>
            <a:srgbClr val="E46962"/>
          </p15:clr>
        </p15:guide>
        <p15:guide id="7" orient="horz" pos="319">
          <p15:clr>
            <a:srgbClr val="E46962"/>
          </p15:clr>
        </p15:guide>
        <p15:guide id="8" pos="310">
          <p15:clr>
            <a:srgbClr val="E46962"/>
          </p15:clr>
        </p15:guide>
        <p15:guide id="9" pos="8906">
          <p15:clr>
            <a:srgbClr val="E46962"/>
          </p15:clr>
        </p15:guide>
        <p15:guide id="10" orient="horz" pos="4865">
          <p15:clr>
            <a:srgbClr val="E46962"/>
          </p15:clr>
        </p15:guide>
        <p15:guide id="11" orient="horz" pos="1362">
          <p15:clr>
            <a:srgbClr val="E46962"/>
          </p15:clr>
        </p15:guide>
        <p15:guide id="12" orient="horz" pos="2074">
          <p15:clr>
            <a:srgbClr val="E46962"/>
          </p15:clr>
        </p15:guide>
        <p15:guide id="13" pos="2918">
          <p15:clr>
            <a:srgbClr val="E46962"/>
          </p15:clr>
        </p15:guide>
        <p15:guide id="14" pos="3379">
          <p15:clr>
            <a:srgbClr val="E46962"/>
          </p15:clr>
        </p15:guide>
        <p15:guide id="15" pos="5837">
          <p15:clr>
            <a:srgbClr val="E46962"/>
          </p15:clr>
        </p15:guide>
        <p15:guide id="16" pos="6298">
          <p15:clr>
            <a:srgbClr val="E46962"/>
          </p15:clr>
        </p15:guide>
        <p15:guide id="17" pos="4378">
          <p15:clr>
            <a:srgbClr val="E46962"/>
          </p15:clr>
        </p15:guide>
        <p15:guide id="18" pos="4838">
          <p15:clr>
            <a:srgbClr val="E46962"/>
          </p15:clr>
        </p15:guide>
        <p15:guide id="19" orient="horz" pos="3571">
          <p15:clr>
            <a:srgbClr val="E46962"/>
          </p15:clr>
        </p15:guide>
        <p15:guide id="20" orient="horz" pos="1633">
          <p15:clr>
            <a:srgbClr val="E46962"/>
          </p15:clr>
        </p15:guide>
        <p15:guide id="21" orient="horz" pos="44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Dark">
  <p:cSld name="CUSTOM_2_1_1_1_1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9"/>
          <p:cNvPicPr preferRelativeResize="0"/>
          <p:nvPr/>
        </p:nvPicPr>
        <p:blipFill rotWithShape="1">
          <a:blip r:embed="rId2">
            <a:alphaModFix amt="21000"/>
          </a:blip>
          <a:srcRect b="21612" l="21184" r="21761" t="0"/>
          <a:stretch/>
        </p:blipFill>
        <p:spPr>
          <a:xfrm>
            <a:off x="13840789" y="506441"/>
            <a:ext cx="297134" cy="22507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9"/>
          <p:cNvSpPr txBox="1"/>
          <p:nvPr/>
        </p:nvSpPr>
        <p:spPr>
          <a:xfrm>
            <a:off x="731520" y="7315201"/>
            <a:ext cx="877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fld id="{00000000-1234-1234-1234-123412341234}" type="slidenum">
              <a:rPr b="0" i="1" lang="en" sz="96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‹#›</a:t>
            </a:fld>
            <a:endParaRPr b="0" i="1" sz="96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53" name="Google Shape;53;p69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13840358" y="509520"/>
            <a:ext cx="292609" cy="219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61">
          <p15:clr>
            <a:srgbClr val="E46962"/>
          </p15:clr>
        </p15:guide>
        <p15:guide id="2" pos="4608">
          <p15:clr>
            <a:srgbClr val="E46962"/>
          </p15:clr>
        </p15:guide>
        <p15:guide id="3" pos="8755">
          <p15:clr>
            <a:srgbClr val="E46962"/>
          </p15:clr>
        </p15:guide>
        <p15:guide id="4" orient="horz" pos="461">
          <p15:clr>
            <a:srgbClr val="E46962"/>
          </p15:clr>
        </p15:guide>
        <p15:guide id="5" orient="horz" pos="3041">
          <p15:clr>
            <a:srgbClr val="E46962"/>
          </p15:clr>
        </p15:guide>
        <p15:guide id="6" orient="horz" pos="4608">
          <p15:clr>
            <a:srgbClr val="E46962"/>
          </p15:clr>
        </p15:guide>
        <p15:guide id="7" orient="horz" pos="319">
          <p15:clr>
            <a:srgbClr val="E46962"/>
          </p15:clr>
        </p15:guide>
        <p15:guide id="8" pos="310">
          <p15:clr>
            <a:srgbClr val="E46962"/>
          </p15:clr>
        </p15:guide>
        <p15:guide id="9" pos="8906">
          <p15:clr>
            <a:srgbClr val="E46962"/>
          </p15:clr>
        </p15:guide>
        <p15:guide id="10" orient="horz" pos="4865">
          <p15:clr>
            <a:srgbClr val="E46962"/>
          </p15:clr>
        </p15:guide>
        <p15:guide id="11" orient="horz" pos="1362">
          <p15:clr>
            <a:srgbClr val="E46962"/>
          </p15:clr>
        </p15:guide>
        <p15:guide id="12" orient="horz" pos="2074">
          <p15:clr>
            <a:srgbClr val="E46962"/>
          </p15:clr>
        </p15:guide>
        <p15:guide id="13" orient="horz" pos="3571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Content_3">
  <p:cSld name="TITLE_AND_BODY_4_4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70"/>
          <p:cNvPicPr preferRelativeResize="0"/>
          <p:nvPr/>
        </p:nvPicPr>
        <p:blipFill rotWithShape="1">
          <a:blip r:embed="rId2">
            <a:alphaModFix/>
          </a:blip>
          <a:srcRect b="0" l="10" r="10" t="0"/>
          <a:stretch/>
        </p:blipFill>
        <p:spPr>
          <a:xfrm>
            <a:off x="12931325" y="7574825"/>
            <a:ext cx="1287480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0"/>
          <p:cNvSpPr/>
          <p:nvPr/>
        </p:nvSpPr>
        <p:spPr>
          <a:xfrm>
            <a:off x="12447000" y="457200"/>
            <a:ext cx="1771800" cy="228600"/>
          </a:xfrm>
          <a:prstGeom prst="roundRect">
            <a:avLst>
              <a:gd fmla="val 50000" name="adj"/>
            </a:avLst>
          </a:prstGeom>
          <a:solidFill>
            <a:srgbClr val="999999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l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Privileged &amp; Confidential</a:t>
            </a:r>
            <a:endParaRPr b="0" i="0" sz="960" u="none" cap="none" strike="noStrike">
              <a:solidFill>
                <a:schemeClr val="l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57" name="Google Shape;57;p70"/>
          <p:cNvSpPr txBox="1"/>
          <p:nvPr>
            <p:ph idx="12" type="sldNum"/>
          </p:nvPr>
        </p:nvSpPr>
        <p:spPr>
          <a:xfrm>
            <a:off x="457200" y="7668450"/>
            <a:ext cx="272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70"/>
          <p:cNvSpPr txBox="1"/>
          <p:nvPr/>
        </p:nvSpPr>
        <p:spPr>
          <a:xfrm>
            <a:off x="915725" y="7668450"/>
            <a:ext cx="47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Corporate Presentation Template</a:t>
            </a:r>
            <a:endParaRPr b="0" i="0" sz="800" u="none" cap="none" strike="noStrike">
              <a:solidFill>
                <a:srgbClr val="9E9E9E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968">
          <p15:clr>
            <a:srgbClr val="E46962"/>
          </p15:clr>
        </p15:guide>
        <p15:guide id="2" pos="3197">
          <p15:clr>
            <a:srgbClr val="E46962"/>
          </p15:clr>
        </p15:guide>
        <p15:guide id="3" pos="3082">
          <p15:clr>
            <a:srgbClr val="E46962"/>
          </p15:clr>
        </p15:guide>
        <p15:guide id="4" pos="6134">
          <p15:clr>
            <a:srgbClr val="E46962"/>
          </p15:clr>
        </p15:guide>
        <p15:guide id="5" pos="6019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rple Beast Logo (Left)">
  <p:cSld name="TITLE_4_2">
    <p:bg>
      <p:bgPr>
        <a:solidFill>
          <a:schemeClr val="accent5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9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Plus Jakarta Sans Light"/>
              <a:buNone/>
              <a:defRPr b="0" i="0" sz="44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Plus Jakarta Sans Light"/>
              <a:buNone/>
              <a:defRPr b="0" i="0" sz="44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Plus Jakarta Sans Light"/>
              <a:buNone/>
              <a:defRPr b="0" i="0" sz="44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Plus Jakarta Sans Light"/>
              <a:buNone/>
              <a:defRPr b="0" i="0" sz="44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Plus Jakarta Sans Light"/>
              <a:buNone/>
              <a:defRPr b="0" i="0" sz="44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Plus Jakarta Sans Light"/>
              <a:buNone/>
              <a:defRPr b="0" i="0" sz="44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Plus Jakarta Sans Light"/>
              <a:buNone/>
              <a:defRPr b="0" i="0" sz="44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Plus Jakarta Sans Light"/>
              <a:buNone/>
              <a:defRPr b="0" i="0" sz="44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Plus Jakarta Sans Light"/>
              <a:buNone/>
              <a:defRPr b="0" i="0" sz="44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7" name="Google Shape;7;p59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14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Plus Jakarta Sans Light"/>
              <a:buChar char="●"/>
              <a:defRPr b="0" i="0" sz="288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indent="-37084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oboto Condensed Medium"/>
              <a:buChar char="○"/>
              <a:defRPr b="0" i="0" sz="2240" u="none" cap="none" strike="noStrike">
                <a:solidFill>
                  <a:schemeClr val="dk1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defRPr>
            </a:lvl2pPr>
            <a:lvl3pPr indent="-37084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Spectral"/>
              <a:buChar char="■"/>
              <a:defRPr b="0" i="0" sz="224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indent="-37084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Plus Jakarta Sans Light"/>
              <a:buChar char="●"/>
              <a:defRPr b="0" i="0" sz="224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indent="-37084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Plus Jakarta Sans Light"/>
              <a:buChar char="○"/>
              <a:defRPr b="0" i="0" sz="224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indent="-37084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Plus Jakarta Sans Light"/>
              <a:buChar char="■"/>
              <a:defRPr b="0" i="0" sz="224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indent="-37084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Plus Jakarta Sans Light"/>
              <a:buChar char="●"/>
              <a:defRPr b="0" i="0" sz="224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indent="-37084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Plus Jakarta Sans Light"/>
              <a:buChar char="○"/>
              <a:defRPr b="0" i="0" sz="224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indent="-37084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Plus Jakarta Sans Light"/>
              <a:buChar char="■"/>
              <a:defRPr b="0" i="0" sz="2240" u="none" cap="none" strike="noStrike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8" name="Google Shape;8;p5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hyperlink" Target="http://drive.google.com/file/d/1KuH124QlL_SzBo5p82nfZldIyZVkxwEn/view" TargetMode="External"/><Relationship Id="rId6" Type="http://schemas.openxmlformats.org/officeDocument/2006/relationships/image" Target="../media/image1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hyperlink" Target="http://drive.google.com/file/d/1yf5g8k87GD-ZN4RBvz1rE9ENQdApRG4s/view" TargetMode="External"/><Relationship Id="rId5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2.png"/><Relationship Id="rId4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41.png"/><Relationship Id="rId12" Type="http://schemas.openxmlformats.org/officeDocument/2006/relationships/hyperlink" Target="http://eli5.zksync.io" TargetMode="External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idx="4294967295" type="ctrTitle"/>
          </p:nvPr>
        </p:nvSpPr>
        <p:spPr>
          <a:xfrm>
            <a:off x="2531725" y="2728900"/>
            <a:ext cx="9514500" cy="21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840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Zero Knowledge Proofs</a:t>
            </a:r>
            <a:endParaRPr b="0" i="0" sz="840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65" name="Google Shape;65;p1"/>
          <p:cNvSpPr txBox="1"/>
          <p:nvPr>
            <p:ph idx="4294967295" type="subTitle"/>
          </p:nvPr>
        </p:nvSpPr>
        <p:spPr>
          <a:xfrm>
            <a:off x="4019295" y="5392509"/>
            <a:ext cx="682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Clr>
                <a:schemeClr val="dk1"/>
              </a:buClr>
              <a:buSzPts val="2880"/>
              <a:buFont typeface="Plus Jakarta Sans Light"/>
              <a:buNone/>
            </a:pPr>
            <a:r>
              <a:rPr b="0" i="0" lang="en" sz="26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Privacy Without Compromise</a:t>
            </a:r>
            <a:endParaRPr b="0" i="0" sz="26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72" name="Google Shape;72;p2" title="Screenshot 2026-09-30 at 4.44.57 PM.png"/>
          <p:cNvPicPr preferRelativeResize="0"/>
          <p:nvPr/>
        </p:nvPicPr>
        <p:blipFill rotWithShape="1">
          <a:blip r:embed="rId3">
            <a:alphaModFix/>
          </a:blip>
          <a:srcRect b="0" l="0" r="0" t="1633"/>
          <a:stretch/>
        </p:blipFill>
        <p:spPr>
          <a:xfrm>
            <a:off x="2291500" y="134175"/>
            <a:ext cx="10233277" cy="80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0200" y="245775"/>
            <a:ext cx="8153624" cy="51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 txBox="1"/>
          <p:nvPr>
            <p:ph idx="4294967295" type="subTitle"/>
          </p:nvPr>
        </p:nvSpPr>
        <p:spPr>
          <a:xfrm>
            <a:off x="3793320" y="5133532"/>
            <a:ext cx="68274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Plus Jakarta Sans Light"/>
              <a:buNone/>
            </a:pPr>
            <a:r>
              <a:rPr b="1" i="0" lang="en" sz="37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November 14th</a:t>
            </a:r>
            <a:endParaRPr b="1" i="0" sz="370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Plus Jakarta Sans Light"/>
              <a:buNone/>
            </a:pPr>
            <a:r>
              <a:rPr b="1" i="0" lang="en" sz="37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78th Street Studios</a:t>
            </a:r>
            <a:endParaRPr b="1" i="0" sz="370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920"/>
              </a:spcBef>
              <a:spcAft>
                <a:spcPts val="1920"/>
              </a:spcAft>
              <a:buClr>
                <a:schemeClr val="dk1"/>
              </a:buClr>
              <a:buSzPts val="2880"/>
              <a:buFont typeface="Plus Jakarta Sans Light"/>
              <a:buNone/>
            </a:pPr>
            <a:r>
              <a:rPr b="1" i="0" lang="en" sz="37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burningrivercybercon.com</a:t>
            </a:r>
            <a:endParaRPr b="1" i="0" sz="370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85" name="Google Shape;85;p4" title="Screenshot 2026-09-30 at 4.56.4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943" y="608525"/>
            <a:ext cx="12764531" cy="658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525" y="889638"/>
            <a:ext cx="9315349" cy="614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idx="4294967295" type="ctrTitle"/>
          </p:nvPr>
        </p:nvSpPr>
        <p:spPr>
          <a:xfrm>
            <a:off x="3717625" y="406175"/>
            <a:ext cx="98796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840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KYC Verification</a:t>
            </a:r>
            <a:endParaRPr b="0" i="0" sz="840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98" name="Google Shape;98;p6" title="Screenshot 2026-09-30 at 4.50.03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2076" y="1902029"/>
            <a:ext cx="9399626" cy="5852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idx="4294967295" type="ctrTitle"/>
          </p:nvPr>
        </p:nvSpPr>
        <p:spPr>
          <a:xfrm>
            <a:off x="3717625" y="406175"/>
            <a:ext cx="98796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840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KYC Verification</a:t>
            </a:r>
            <a:endParaRPr b="0" i="0" sz="840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731600" y="6619425"/>
            <a:ext cx="5105100" cy="11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 typical KYC API: front and back of your ID, plus a selfie</a:t>
            </a:r>
            <a:endParaRPr b="0" i="0" sz="1000" u="none" cap="none" strike="noStrike">
              <a:solidFill>
                <a:schemeClr val="dk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106" name="Google Shape;106;p7" title="Screenshot 2026-09-30 at 4.50.35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525" y="1780917"/>
            <a:ext cx="7392840" cy="578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idx="4294967295" type="ctrTitle"/>
          </p:nvPr>
        </p:nvSpPr>
        <p:spPr>
          <a:xfrm>
            <a:off x="3717625" y="406175"/>
            <a:ext cx="98796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840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KYC Verification</a:t>
            </a:r>
            <a:endParaRPr b="0" i="0" sz="840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113" name="Google Shape;113;p8" title="Screenshot 2026-09-30 at 4.52.23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575988"/>
            <a:ext cx="14325599" cy="3077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9" title="Color=Black, Format=Full Wide@4x.png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11745956" y="511553"/>
            <a:ext cx="2391956" cy="37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9" title="Group 2041277531.png"/>
          <p:cNvPicPr preferRelativeResize="0"/>
          <p:nvPr/>
        </p:nvPicPr>
        <p:blipFill rotWithShape="1">
          <a:blip r:embed="rId4">
            <a:alphaModFix/>
          </a:blip>
          <a:srcRect b="55834" l="58901" r="2161" t="-284"/>
          <a:stretch/>
        </p:blipFill>
        <p:spPr>
          <a:xfrm rot="5400000">
            <a:off x="8475013" y="2075762"/>
            <a:ext cx="8238874" cy="4087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9"/>
          <p:cNvSpPr/>
          <p:nvPr/>
        </p:nvSpPr>
        <p:spPr>
          <a:xfrm>
            <a:off x="732391" y="2286000"/>
            <a:ext cx="4228800" cy="4800600"/>
          </a:xfrm>
          <a:prstGeom prst="roundRect">
            <a:avLst>
              <a:gd fmla="val 4137" name="adj"/>
            </a:avLst>
          </a:prstGeom>
          <a:solidFill>
            <a:srgbClr val="F7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923275" y="2986525"/>
            <a:ext cx="3856800" cy="29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D0D0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Security Risk</a:t>
            </a:r>
            <a:endParaRPr b="0" i="0" sz="2700" u="none" cap="none" strike="noStrike">
              <a:solidFill>
                <a:srgbClr val="0D0D0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Sensitive data needs to be collected, processed, and stored. </a:t>
            </a:r>
            <a:endParaRPr b="0" i="0" sz="2500" u="none" cap="none" strike="noStrike">
              <a:solidFill>
                <a:srgbClr val="6D6D6D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This is a high value target to hackers.</a:t>
            </a:r>
            <a:endParaRPr b="0" i="0" sz="2500" u="none" cap="none" strike="noStrike">
              <a:solidFill>
                <a:srgbClr val="6D6D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9"/>
          <p:cNvSpPr txBox="1"/>
          <p:nvPr>
            <p:ph idx="4294967295" type="ctrTitle"/>
          </p:nvPr>
        </p:nvSpPr>
        <p:spPr>
          <a:xfrm>
            <a:off x="732400" y="372175"/>
            <a:ext cx="98796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840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Issues</a:t>
            </a:r>
            <a:endParaRPr b="0" i="0" sz="840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0" title="Color=Black, Format=Full Wide@4x.png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11745956" y="511553"/>
            <a:ext cx="2391956" cy="37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0"/>
          <p:cNvSpPr txBox="1"/>
          <p:nvPr/>
        </p:nvSpPr>
        <p:spPr>
          <a:xfrm>
            <a:off x="731600" y="6619425"/>
            <a:ext cx="5105100" cy="11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Coinbase breach, June 2025 (Reuters)</a:t>
            </a:r>
            <a:endParaRPr b="0" i="0" sz="1000" u="none" cap="none" strike="noStrike">
              <a:solidFill>
                <a:schemeClr val="dk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pic>
        <p:nvPicPr>
          <p:cNvPr id="130" name="Google Shape;130;p10" title="Group 2041277531.png"/>
          <p:cNvPicPr preferRelativeResize="0"/>
          <p:nvPr/>
        </p:nvPicPr>
        <p:blipFill rotWithShape="1">
          <a:blip r:embed="rId4">
            <a:alphaModFix/>
          </a:blip>
          <a:srcRect b="55834" l="58901" r="2161" t="-284"/>
          <a:stretch/>
        </p:blipFill>
        <p:spPr>
          <a:xfrm rot="5400000">
            <a:off x="8475013" y="2075762"/>
            <a:ext cx="8238874" cy="408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0" title="Screenshot 2026-09-30 at 5.04.59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3275" y="2211300"/>
            <a:ext cx="10245977" cy="308630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0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1" title="Color=Black, Format=Full Wide@4x.png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11745956" y="511553"/>
            <a:ext cx="2391956" cy="37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1"/>
          <p:cNvSpPr txBox="1"/>
          <p:nvPr/>
        </p:nvSpPr>
        <p:spPr>
          <a:xfrm>
            <a:off x="731600" y="6619425"/>
            <a:ext cx="5105100" cy="11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Discord: attackers reached government ID images through a support vendor</a:t>
            </a:r>
            <a:endParaRPr b="0" i="0" sz="1000" u="none" cap="none" strike="noStrike">
              <a:solidFill>
                <a:schemeClr val="dk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pic>
        <p:nvPicPr>
          <p:cNvPr id="139" name="Google Shape;139;p11" title="Group 2041277531.png"/>
          <p:cNvPicPr preferRelativeResize="0"/>
          <p:nvPr/>
        </p:nvPicPr>
        <p:blipFill rotWithShape="1">
          <a:blip r:embed="rId4">
            <a:alphaModFix/>
          </a:blip>
          <a:srcRect b="55834" l="58901" r="2161" t="-284"/>
          <a:stretch/>
        </p:blipFill>
        <p:spPr>
          <a:xfrm rot="5400000">
            <a:off x="8475013" y="2075762"/>
            <a:ext cx="8238874" cy="408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1" title="Screenshot 2026-09-30 at 5.06.14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063" y="957488"/>
            <a:ext cx="7816271" cy="631462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1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2" title="Color=Black, Format=Full Wide@4x.png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11745956" y="511553"/>
            <a:ext cx="2391956" cy="37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2" title="Group 2041277531.png"/>
          <p:cNvPicPr preferRelativeResize="0"/>
          <p:nvPr/>
        </p:nvPicPr>
        <p:blipFill rotWithShape="1">
          <a:blip r:embed="rId4">
            <a:alphaModFix/>
          </a:blip>
          <a:srcRect b="55834" l="58901" r="2161" t="-284"/>
          <a:stretch/>
        </p:blipFill>
        <p:spPr>
          <a:xfrm rot="5400000">
            <a:off x="8475013" y="2075762"/>
            <a:ext cx="8238874" cy="408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2" title="Screenshot 2026-09-30 at 5.07.08 PM.png"/>
          <p:cNvPicPr preferRelativeResize="0"/>
          <p:nvPr/>
        </p:nvPicPr>
        <p:blipFill rotWithShape="1">
          <a:blip r:embed="rId5">
            <a:alphaModFix/>
          </a:blip>
          <a:srcRect b="0" l="0" r="0" t="8391"/>
          <a:stretch/>
        </p:blipFill>
        <p:spPr>
          <a:xfrm>
            <a:off x="2192225" y="2289274"/>
            <a:ext cx="10245951" cy="27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4" title="Color=Black, Format=Full Wide@4x.png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11745956" y="511553"/>
            <a:ext cx="2391956" cy="37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 title="Group 2041277531.png"/>
          <p:cNvPicPr preferRelativeResize="0"/>
          <p:nvPr/>
        </p:nvPicPr>
        <p:blipFill rotWithShape="1">
          <a:blip r:embed="rId4">
            <a:alphaModFix/>
          </a:blip>
          <a:srcRect b="55834" l="58901" r="2161" t="-284"/>
          <a:stretch/>
        </p:blipFill>
        <p:spPr>
          <a:xfrm rot="5400000">
            <a:off x="8475013" y="2075762"/>
            <a:ext cx="8238874" cy="4087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4"/>
          <p:cNvSpPr/>
          <p:nvPr/>
        </p:nvSpPr>
        <p:spPr>
          <a:xfrm>
            <a:off x="732391" y="2286000"/>
            <a:ext cx="4228800" cy="4800600"/>
          </a:xfrm>
          <a:prstGeom prst="roundRect">
            <a:avLst>
              <a:gd fmla="val 4137" name="adj"/>
            </a:avLst>
          </a:prstGeom>
          <a:solidFill>
            <a:srgbClr val="F7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923275" y="2986525"/>
            <a:ext cx="3856800" cy="29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D0D0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Security Risk</a:t>
            </a:r>
            <a:endParaRPr b="0" i="0" sz="2700" u="none" cap="none" strike="noStrike">
              <a:solidFill>
                <a:srgbClr val="0D0D0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Sensitive data needs to be collected, processed, and stored. </a:t>
            </a:r>
            <a:endParaRPr b="0" i="0" sz="2500" u="none" cap="none" strike="noStrike">
              <a:solidFill>
                <a:srgbClr val="6D6D6D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This is a high value target to hackers.</a:t>
            </a:r>
            <a:endParaRPr b="0" i="0" sz="2500" u="none" cap="none" strike="noStrike">
              <a:solidFill>
                <a:srgbClr val="6D6D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8" name="Google Shape;158;p14"/>
          <p:cNvSpPr txBox="1"/>
          <p:nvPr>
            <p:ph idx="4294967295" type="ctrTitle"/>
          </p:nvPr>
        </p:nvSpPr>
        <p:spPr>
          <a:xfrm>
            <a:off x="732400" y="372175"/>
            <a:ext cx="98796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840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Issues</a:t>
            </a:r>
            <a:endParaRPr b="0" i="0" sz="840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5418191" y="2286000"/>
            <a:ext cx="4228800" cy="4800600"/>
          </a:xfrm>
          <a:prstGeom prst="roundRect">
            <a:avLst>
              <a:gd fmla="val 4137" name="adj"/>
            </a:avLst>
          </a:prstGeom>
          <a:solidFill>
            <a:srgbClr val="F7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5604188" y="2917250"/>
            <a:ext cx="38568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D0D0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 Risk</a:t>
            </a:r>
            <a:endParaRPr b="0" i="0" sz="2700" u="none" cap="none" strike="noStrike">
              <a:solidFill>
                <a:srgbClr val="0D0D0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28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Synthetic IDs, deepfakes, and other AI tools make a picture of a passport easier to fake.</a:t>
            </a:r>
            <a:endParaRPr b="0" i="0" sz="2500" u="none" cap="none" strike="noStrike">
              <a:solidFill>
                <a:srgbClr val="6D6D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5" title="Color=Black, Format=Full Wide@4x.png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11745956" y="511553"/>
            <a:ext cx="2391956" cy="37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 title="Group 2041277531.png"/>
          <p:cNvPicPr preferRelativeResize="0"/>
          <p:nvPr/>
        </p:nvPicPr>
        <p:blipFill rotWithShape="1">
          <a:blip r:embed="rId4">
            <a:alphaModFix/>
          </a:blip>
          <a:srcRect b="55834" l="58901" r="2161" t="-284"/>
          <a:stretch/>
        </p:blipFill>
        <p:spPr>
          <a:xfrm rot="5400000">
            <a:off x="8475013" y="2075762"/>
            <a:ext cx="8238874" cy="408734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5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169" name="Google Shape;169;p15" title="signal-2026-09-30-17-11-03-331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6750" y="331100"/>
            <a:ext cx="13141526" cy="73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6" title="Color=Black, Format=Full Wide@4x.png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11745956" y="511553"/>
            <a:ext cx="2391956" cy="37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title="Group 2041277531.png"/>
          <p:cNvPicPr preferRelativeResize="0"/>
          <p:nvPr/>
        </p:nvPicPr>
        <p:blipFill rotWithShape="1">
          <a:blip r:embed="rId4">
            <a:alphaModFix/>
          </a:blip>
          <a:srcRect b="55834" l="58901" r="2161" t="-284"/>
          <a:stretch/>
        </p:blipFill>
        <p:spPr>
          <a:xfrm rot="5400000">
            <a:off x="8475013" y="2075762"/>
            <a:ext cx="8238874" cy="408734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/>
          <p:nvPr/>
        </p:nvSpPr>
        <p:spPr>
          <a:xfrm>
            <a:off x="732391" y="2286000"/>
            <a:ext cx="4228800" cy="4800600"/>
          </a:xfrm>
          <a:prstGeom prst="roundRect">
            <a:avLst>
              <a:gd fmla="val 4137" name="adj"/>
            </a:avLst>
          </a:prstGeom>
          <a:solidFill>
            <a:srgbClr val="F7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923275" y="2986525"/>
            <a:ext cx="3856800" cy="29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D0D0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Security Risk</a:t>
            </a:r>
            <a:endParaRPr b="0" i="0" sz="2700" u="none" cap="none" strike="noStrike">
              <a:solidFill>
                <a:srgbClr val="0D0D0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Sensitive data needs to be collected, processed, and stored. </a:t>
            </a:r>
            <a:endParaRPr b="0" i="0" sz="2500" u="none" cap="none" strike="noStrike">
              <a:solidFill>
                <a:srgbClr val="6D6D6D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This is a high value target to hackers.</a:t>
            </a:r>
            <a:endParaRPr b="0" i="0" sz="2500" u="none" cap="none" strike="noStrike">
              <a:solidFill>
                <a:srgbClr val="6D6D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8" name="Google Shape;178;p16"/>
          <p:cNvSpPr txBox="1"/>
          <p:nvPr>
            <p:ph idx="4294967295" type="ctrTitle"/>
          </p:nvPr>
        </p:nvSpPr>
        <p:spPr>
          <a:xfrm>
            <a:off x="732400" y="372175"/>
            <a:ext cx="98796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840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Issues</a:t>
            </a:r>
            <a:endParaRPr b="0" i="0" sz="840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5418191" y="2286000"/>
            <a:ext cx="4228800" cy="4800600"/>
          </a:xfrm>
          <a:prstGeom prst="roundRect">
            <a:avLst>
              <a:gd fmla="val 4137" name="adj"/>
            </a:avLst>
          </a:prstGeom>
          <a:solidFill>
            <a:srgbClr val="F7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5604188" y="2917250"/>
            <a:ext cx="38568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D0D0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 Risk</a:t>
            </a:r>
            <a:endParaRPr b="0" i="0" sz="2700" u="none" cap="none" strike="noStrike">
              <a:solidFill>
                <a:srgbClr val="0D0D0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28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Synthetic IDs, deepfakes, and other AI tools make a picture of a passport easier to fake.</a:t>
            </a:r>
            <a:endParaRPr b="0" i="0" sz="2500" u="none" cap="none" strike="noStrike">
              <a:solidFill>
                <a:srgbClr val="6D6D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10103991" y="2286000"/>
            <a:ext cx="4228800" cy="4800600"/>
          </a:xfrm>
          <a:prstGeom prst="roundRect">
            <a:avLst>
              <a:gd fmla="val 4137" name="adj"/>
            </a:avLst>
          </a:prstGeom>
          <a:solidFill>
            <a:srgbClr val="F7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0289988" y="2917250"/>
            <a:ext cx="3856800" cy="3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D0D0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Bad UX</a:t>
            </a:r>
            <a:endParaRPr b="0" i="0" sz="2700" u="none" cap="none" strike="noStrike">
              <a:solidFill>
                <a:srgbClr val="0D0D0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KYC experience causes massive onboarding issues. </a:t>
            </a:r>
            <a:endParaRPr b="0" i="0" sz="2500" u="none" cap="none" strike="noStrike">
              <a:solidFill>
                <a:srgbClr val="6D6D6D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According to one study, </a:t>
            </a:r>
            <a:r>
              <a:rPr b="1" i="0" lang="en" sz="2500" u="none" cap="none" strike="noStrike">
                <a:solidFill>
                  <a:srgbClr val="6D6D6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68% </a:t>
            </a:r>
            <a:r>
              <a:rPr b="0" i="0" lang="en" sz="2500" u="none" cap="none" strike="noStrike">
                <a:solidFill>
                  <a:srgbClr val="6D6D6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of fintech app users abandon the app before onboarding is done.</a:t>
            </a:r>
            <a:endParaRPr b="0" i="0" sz="2500" u="none" cap="none" strike="noStrike">
              <a:solidFill>
                <a:srgbClr val="6D6D6D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/>
        </p:nvSpPr>
        <p:spPr>
          <a:xfrm>
            <a:off x="731525" y="2161450"/>
            <a:ext cx="104262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Zero Knowledge Proofs</a:t>
            </a:r>
            <a:endParaRPr b="0" i="0" sz="720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189" name="Google Shape;189;p17"/>
          <p:cNvSpPr txBox="1"/>
          <p:nvPr>
            <p:ph idx="12" type="sldNum"/>
          </p:nvPr>
        </p:nvSpPr>
        <p:spPr>
          <a:xfrm>
            <a:off x="492475" y="7600325"/>
            <a:ext cx="1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285525" y="7243025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958150" y="3291850"/>
            <a:ext cx="112026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Cryptography tool that lets you:</a:t>
            </a:r>
            <a:endParaRPr b="0" i="0" sz="2500" u="none" cap="none" strike="noStrike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-387350" lvl="0" marL="9144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us Jakarta Sans ExtraBold"/>
              <a:buChar char="-"/>
            </a:pPr>
            <a:r>
              <a:rPr b="0" i="0" lang="en" sz="2500" u="none" cap="none" strike="noStrike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Prove that a statement is true (“the user is over 18”)</a:t>
            </a:r>
            <a:endParaRPr b="0" i="0" sz="2500" u="none" cap="none" strike="noStrike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-3873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us Jakarta Sans ExtraBold"/>
              <a:buChar char="-"/>
            </a:pPr>
            <a:r>
              <a:rPr b="0" i="0" lang="en" sz="2500" u="none" cap="none" strike="noStrike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Without revealing the secret data behind it (“January 1, 2008”)</a:t>
            </a:r>
            <a:endParaRPr b="0" i="0" sz="2500" u="none" cap="none" strike="noStrike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-3873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us Jakarta Sans ExtraBold"/>
              <a:buChar char="-"/>
            </a:pPr>
            <a:r>
              <a:rPr b="0" i="0" lang="en" sz="2500" u="none" cap="none" strike="noStrike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 a way that is extremely difficult to fake (“soundness”)</a:t>
            </a:r>
            <a:endParaRPr b="0" i="0" sz="2500" u="none" cap="none" strike="noStrike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544556" y="-29295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</a:pPr>
            <a:r>
              <a:rPr lang="en">
                <a:solidFill>
                  <a:srgbClr val="FFFFFF"/>
                </a:solidFill>
              </a:rPr>
              <a:t>Background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98" name="Google Shape;198;p18"/>
          <p:cNvPicPr preferRelativeResize="0"/>
          <p:nvPr/>
        </p:nvPicPr>
        <p:blipFill rotWithShape="1">
          <a:blip r:embed="rId3">
            <a:alphaModFix/>
          </a:blip>
          <a:srcRect b="28580" l="0" r="0" t="7612"/>
          <a:stretch/>
        </p:blipFill>
        <p:spPr>
          <a:xfrm>
            <a:off x="0" y="20200"/>
            <a:ext cx="14630403" cy="5319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/>
          <p:cNvPicPr preferRelativeResize="0"/>
          <p:nvPr/>
        </p:nvPicPr>
        <p:blipFill rotWithShape="1">
          <a:blip r:embed="rId3">
            <a:alphaModFix/>
          </a:blip>
          <a:srcRect b="80239" l="0" r="0" t="9144"/>
          <a:stretch/>
        </p:blipFill>
        <p:spPr>
          <a:xfrm>
            <a:off x="0" y="5345120"/>
            <a:ext cx="14630403" cy="88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/>
          <p:cNvPicPr preferRelativeResize="0"/>
          <p:nvPr/>
        </p:nvPicPr>
        <p:blipFill rotWithShape="1">
          <a:blip r:embed="rId3">
            <a:alphaModFix/>
          </a:blip>
          <a:srcRect b="80239" l="0" r="0" t="9144"/>
          <a:stretch/>
        </p:blipFill>
        <p:spPr>
          <a:xfrm>
            <a:off x="0" y="6198560"/>
            <a:ext cx="14630403" cy="88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/>
          <p:cNvPicPr preferRelativeResize="0"/>
          <p:nvPr/>
        </p:nvPicPr>
        <p:blipFill rotWithShape="1">
          <a:blip r:embed="rId3">
            <a:alphaModFix/>
          </a:blip>
          <a:srcRect b="80239" l="0" r="0" t="9144"/>
          <a:stretch/>
        </p:blipFill>
        <p:spPr>
          <a:xfrm>
            <a:off x="0" y="7052000"/>
            <a:ext cx="14630403" cy="88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/>
          <p:cNvPicPr preferRelativeResize="0"/>
          <p:nvPr/>
        </p:nvPicPr>
        <p:blipFill rotWithShape="1">
          <a:blip r:embed="rId3">
            <a:alphaModFix/>
          </a:blip>
          <a:srcRect b="80239" l="0" r="0" t="9144"/>
          <a:stretch/>
        </p:blipFill>
        <p:spPr>
          <a:xfrm>
            <a:off x="0" y="7348000"/>
            <a:ext cx="14630403" cy="88508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1987440" y="5433900"/>
            <a:ext cx="10899300" cy="24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Original content and illustrations </a:t>
            </a:r>
            <a:endParaRPr b="1" i="0" sz="2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from MatterLabs and Marcin Michalski</a:t>
            </a:r>
            <a:endParaRPr b="1" i="0" sz="2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Adapted for Educational Purposes</a:t>
            </a:r>
            <a:endParaRPr b="1" i="0" sz="2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by @michaelbe</a:t>
            </a:r>
            <a:endParaRPr b="1" i="0" sz="2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544556" y="-29295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</a:pPr>
            <a:r>
              <a:rPr lang="en">
                <a:solidFill>
                  <a:srgbClr val="FFFFFF"/>
                </a:solidFill>
              </a:rPr>
              <a:t>Background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09" name="Google Shape;209;p19"/>
          <p:cNvPicPr preferRelativeResize="0"/>
          <p:nvPr/>
        </p:nvPicPr>
        <p:blipFill rotWithShape="1">
          <a:blip r:embed="rId3">
            <a:alphaModFix/>
          </a:blip>
          <a:srcRect b="22828" l="0" r="0" t="9233"/>
          <a:stretch/>
        </p:blipFill>
        <p:spPr>
          <a:xfrm>
            <a:off x="0" y="0"/>
            <a:ext cx="14630403" cy="566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 rotWithShape="1">
          <a:blip r:embed="rId3">
            <a:alphaModFix/>
          </a:blip>
          <a:srcRect b="6701" l="0" r="0" t="75386"/>
          <a:stretch/>
        </p:blipFill>
        <p:spPr>
          <a:xfrm>
            <a:off x="0" y="5542560"/>
            <a:ext cx="14630403" cy="2808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544556" y="-29295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</a:pPr>
            <a:r>
              <a:rPr lang="en">
                <a:solidFill>
                  <a:srgbClr val="FFFFFF"/>
                </a:solidFill>
              </a:rPr>
              <a:t>Background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9934"/>
          <a:stretch/>
        </p:blipFill>
        <p:spPr>
          <a:xfrm>
            <a:off x="0" y="1579120"/>
            <a:ext cx="14630403" cy="75080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-62840" y="6639640"/>
            <a:ext cx="14630400" cy="23214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0" y="-87180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0" y="0"/>
            <a:ext cx="4800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544556" y="-29295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</a:pPr>
            <a:r>
              <a:rPr lang="en">
                <a:solidFill>
                  <a:srgbClr val="FFFFFF"/>
                </a:solidFill>
              </a:rPr>
              <a:t>Background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-62840" y="5908120"/>
            <a:ext cx="14630400" cy="23214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-2955"/>
          <a:stretch/>
        </p:blipFill>
        <p:spPr>
          <a:xfrm>
            <a:off x="0" y="1463042"/>
            <a:ext cx="14630400" cy="443151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/>
          <p:nvPr/>
        </p:nvSpPr>
        <p:spPr>
          <a:xfrm>
            <a:off x="0" y="-87180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type="title"/>
          </p:nvPr>
        </p:nvSpPr>
        <p:spPr>
          <a:xfrm>
            <a:off x="544556" y="-29295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</a:pPr>
            <a:r>
              <a:rPr lang="en">
                <a:solidFill>
                  <a:srgbClr val="FFFFFF"/>
                </a:solidFill>
              </a:rPr>
              <a:t>Background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-62840" y="5908120"/>
            <a:ext cx="14630400" cy="23214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0" y="-87180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3520" y="1646813"/>
            <a:ext cx="14693920" cy="7923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55149"/>
          <a:stretch/>
        </p:blipFill>
        <p:spPr>
          <a:xfrm>
            <a:off x="0" y="-1822370"/>
            <a:ext cx="14630399" cy="353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544556" y="-29295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</a:pPr>
            <a:r>
              <a:rPr lang="en">
                <a:solidFill>
                  <a:srgbClr val="FFFFFF"/>
                </a:solidFill>
              </a:rPr>
              <a:t>Background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-62840" y="5908120"/>
            <a:ext cx="14630400" cy="23214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0" y="-87180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55149"/>
          <a:stretch/>
        </p:blipFill>
        <p:spPr>
          <a:xfrm>
            <a:off x="0" y="-1822370"/>
            <a:ext cx="14630399" cy="3538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16211"/>
            <a:ext cx="14630400" cy="7115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78094"/>
          <a:stretch/>
        </p:blipFill>
        <p:spPr>
          <a:xfrm>
            <a:off x="0" y="-1860320"/>
            <a:ext cx="14630400" cy="364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544556" y="-29295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</a:pPr>
            <a:r>
              <a:rPr lang="en">
                <a:solidFill>
                  <a:srgbClr val="FFFFFF"/>
                </a:solidFill>
              </a:rPr>
              <a:t>Background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344400" y="3012160"/>
            <a:ext cx="14630400" cy="23214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0" y="-87180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40" y="-243840"/>
            <a:ext cx="14827438" cy="714216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/>
          <p:nvPr/>
        </p:nvSpPr>
        <p:spPr>
          <a:xfrm>
            <a:off x="144960" y="630868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type="title"/>
          </p:nvPr>
        </p:nvSpPr>
        <p:spPr>
          <a:xfrm>
            <a:off x="544556" y="-29295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</a:pPr>
            <a:r>
              <a:rPr lang="en">
                <a:solidFill>
                  <a:srgbClr val="FFFFFF"/>
                </a:solidFill>
              </a:rPr>
              <a:t>Background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6344400" y="3012160"/>
            <a:ext cx="14630400" cy="23214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0" y="-87180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144960" y="630868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56421"/>
            <a:ext cx="15672518" cy="7040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544556" y="-292955"/>
            <a:ext cx="126033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30475" spcFirstLastPara="1" rIns="30475" wrap="square" tIns="304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9E18"/>
              </a:buClr>
              <a:buSzPts val="3700"/>
              <a:buFont typeface="Avenir"/>
              <a:buNone/>
            </a:pPr>
            <a:r>
              <a:rPr lang="en">
                <a:solidFill>
                  <a:srgbClr val="FFFFFF"/>
                </a:solidFill>
              </a:rPr>
              <a:t>Background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6344400" y="3012160"/>
            <a:ext cx="14630400" cy="23214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0" y="-87180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144960" y="6308680"/>
            <a:ext cx="14630400" cy="2508600"/>
          </a:xfrm>
          <a:prstGeom prst="rect">
            <a:avLst/>
          </a:prstGeom>
          <a:solidFill>
            <a:schemeClr val="lt1"/>
          </a:solidFill>
          <a:ln cap="flat" cmpd="sng" w="1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71800"/>
            <a:ext cx="14775362" cy="910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7" title="Group 2041277537.png"/>
          <p:cNvPicPr preferRelativeResize="0"/>
          <p:nvPr/>
        </p:nvPicPr>
        <p:blipFill rotWithShape="1">
          <a:blip r:embed="rId3">
            <a:alphaModFix amt="8000"/>
          </a:blip>
          <a:srcRect b="0" l="5556" r="5556" t="0"/>
          <a:stretch/>
        </p:blipFill>
        <p:spPr>
          <a:xfrm>
            <a:off x="1" y="0"/>
            <a:ext cx="14672348" cy="70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 txBox="1"/>
          <p:nvPr/>
        </p:nvSpPr>
        <p:spPr>
          <a:xfrm>
            <a:off x="1680925" y="2767450"/>
            <a:ext cx="11268600" cy="26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0" i="0" lang="en" sz="8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Practical Examples</a:t>
            </a:r>
            <a:endParaRPr b="0" i="0" sz="8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80" name="Google Shape;280;p27"/>
          <p:cNvSpPr txBox="1"/>
          <p:nvPr>
            <p:ph idx="12" type="sldNum"/>
          </p:nvPr>
        </p:nvSpPr>
        <p:spPr>
          <a:xfrm>
            <a:off x="492475" y="7600325"/>
            <a:ext cx="1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27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233575" y="7243025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"/>
          <p:cNvSpPr txBox="1"/>
          <p:nvPr>
            <p:ph idx="4294967295" type="subTitle"/>
          </p:nvPr>
        </p:nvSpPr>
        <p:spPr>
          <a:xfrm>
            <a:off x="4123200" y="1848875"/>
            <a:ext cx="9284400" cy="5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Plus Jakarta Sans Light"/>
              <a:buNone/>
            </a:pPr>
            <a:r>
              <a:rPr b="1" i="0" lang="en" sz="34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Idea: </a:t>
            </a: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Passports already have NFC chips …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Read the data from the chip (signed by government)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Generate a ZK Proof on device, verifying the relevant info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Present the proof(s) to the server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288" name="Google Shape;288;p29"/>
          <p:cNvSpPr txBox="1"/>
          <p:nvPr>
            <p:ph idx="4294967295" type="ctrTitle"/>
          </p:nvPr>
        </p:nvSpPr>
        <p:spPr>
          <a:xfrm>
            <a:off x="4019300" y="511550"/>
            <a:ext cx="8466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664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ZKPassport</a:t>
            </a:r>
            <a:endParaRPr b="0" i="0" sz="664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289" name="Google Shape;289;p29"/>
          <p:cNvCxnSpPr/>
          <p:nvPr/>
        </p:nvCxnSpPr>
        <p:spPr>
          <a:xfrm>
            <a:off x="3657600" y="496100"/>
            <a:ext cx="0" cy="7249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600" y="2740224"/>
            <a:ext cx="3349100" cy="208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9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0" title="Group 2041277531.png"/>
          <p:cNvPicPr preferRelativeResize="0"/>
          <p:nvPr/>
        </p:nvPicPr>
        <p:blipFill rotWithShape="1">
          <a:blip r:embed="rId3">
            <a:alphaModFix/>
          </a:blip>
          <a:srcRect b="57616" l="0" r="0" t="0"/>
          <a:stretch/>
        </p:blipFill>
        <p:spPr>
          <a:xfrm>
            <a:off x="0" y="-5"/>
            <a:ext cx="14630405" cy="269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 title="Group 2041277531.png"/>
          <p:cNvPicPr preferRelativeResize="0"/>
          <p:nvPr/>
        </p:nvPicPr>
        <p:blipFill rotWithShape="1">
          <a:blip r:embed="rId3">
            <a:alphaModFix/>
          </a:blip>
          <a:srcRect b="57616" l="0" r="0" t="0"/>
          <a:stretch/>
        </p:blipFill>
        <p:spPr>
          <a:xfrm rot="10800000">
            <a:off x="-1" y="5462051"/>
            <a:ext cx="14630405" cy="269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0"/>
          <p:cNvSpPr txBox="1"/>
          <p:nvPr>
            <p:ph idx="12" type="sldNum"/>
          </p:nvPr>
        </p:nvSpPr>
        <p:spPr>
          <a:xfrm>
            <a:off x="492475" y="7600325"/>
            <a:ext cx="1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02850" y="7243025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301" name="Google Shape;301;p30" title="Screen Recording 2026-09-30 at 9.31.59 PM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0560" y="0"/>
            <a:ext cx="1097279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 txBox="1"/>
          <p:nvPr>
            <p:ph idx="4294967295" type="subTitle"/>
          </p:nvPr>
        </p:nvSpPr>
        <p:spPr>
          <a:xfrm>
            <a:off x="4123200" y="1848875"/>
            <a:ext cx="9284400" cy="5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Plus Jakarta Sans Light"/>
              <a:buNone/>
            </a:pPr>
            <a:r>
              <a:rPr b="1" i="0" lang="en" sz="34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Idea: </a:t>
            </a: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Digital credentials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Government issues a digital document -i.e. vaccination certificate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Generate a ZK Proof on device, verifying the relevant info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The government can verify the information came from a trusted source without needing to see the exact data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307" name="Google Shape;307;p31"/>
          <p:cNvSpPr txBox="1"/>
          <p:nvPr>
            <p:ph idx="4294967295" type="ctrTitle"/>
          </p:nvPr>
        </p:nvSpPr>
        <p:spPr>
          <a:xfrm>
            <a:off x="4019300" y="511550"/>
            <a:ext cx="8466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664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QuarkID</a:t>
            </a:r>
            <a:endParaRPr b="0" i="0" sz="664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308" name="Google Shape;308;p31"/>
          <p:cNvCxnSpPr/>
          <p:nvPr/>
        </p:nvCxnSpPr>
        <p:spPr>
          <a:xfrm>
            <a:off x="3657600" y="496100"/>
            <a:ext cx="0" cy="7249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31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310" name="Google Shape;31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5" y="2358550"/>
            <a:ext cx="2365600" cy="23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316" name="Google Shape;316;p32" title="Screenshot 2026-09-30 at 9.57.57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963" y="152400"/>
            <a:ext cx="6534485" cy="792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/>
          <p:nvPr>
            <p:ph idx="4294967295" type="subTitle"/>
          </p:nvPr>
        </p:nvSpPr>
        <p:spPr>
          <a:xfrm>
            <a:off x="4123200" y="1848875"/>
            <a:ext cx="9284400" cy="5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Plus Jakarta Sans Light"/>
              <a:buNone/>
            </a:pPr>
            <a:r>
              <a:rPr b="1" i="0" lang="en" sz="34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Idea: </a:t>
            </a: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Prove you’re a group member without revealing WHO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Private voting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Anonymous feedback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b="0" i="0" lang="en" sz="3400" u="none" cap="none" strike="noStrike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Anonymous chats / social media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322" name="Google Shape;322;p33"/>
          <p:cNvSpPr txBox="1"/>
          <p:nvPr>
            <p:ph idx="4294967295" type="ctrTitle"/>
          </p:nvPr>
        </p:nvSpPr>
        <p:spPr>
          <a:xfrm>
            <a:off x="4019300" y="511550"/>
            <a:ext cx="8466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b="0" i="0" lang="en" sz="6640" u="none" cap="none" strike="noStrike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Semaphore</a:t>
            </a:r>
            <a:endParaRPr b="0" i="0" sz="664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323" name="Google Shape;323;p33"/>
          <p:cNvCxnSpPr/>
          <p:nvPr/>
        </p:nvCxnSpPr>
        <p:spPr>
          <a:xfrm>
            <a:off x="3657600" y="496100"/>
            <a:ext cx="0" cy="7249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33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325" name="Google Shape;325;p33" title="Screenshot 2026-09-30 at 10.03.24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725" y="2161450"/>
            <a:ext cx="3323600" cy="26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21b3ed96c5e600ae_1_0"/>
          <p:cNvSpPr txBox="1"/>
          <p:nvPr>
            <p:ph idx="4294967295" type="ctrTitle"/>
          </p:nvPr>
        </p:nvSpPr>
        <p:spPr>
          <a:xfrm>
            <a:off x="870950" y="506425"/>
            <a:ext cx="8466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6240"/>
              </a:spcAft>
              <a:buClr>
                <a:schemeClr val="dk1"/>
              </a:buClr>
              <a:buSzPts val="4480"/>
              <a:buFont typeface="Plus Jakarta Sans Light"/>
              <a:buNone/>
            </a:pPr>
            <a:r>
              <a:rPr lang="en" sz="664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Other Uses</a:t>
            </a:r>
            <a:endParaRPr b="0" i="0" sz="6640" u="none" cap="none" strike="noStrike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31" name="Google Shape;331;h21b3ed96c5e600ae_1_0"/>
          <p:cNvSpPr/>
          <p:nvPr/>
        </p:nvSpPr>
        <p:spPr>
          <a:xfrm>
            <a:off x="11961450" y="7392100"/>
            <a:ext cx="2668800" cy="8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pic>
        <p:nvPicPr>
          <p:cNvPr id="332" name="Google Shape;332;h21b3ed96c5e600ae_1_0" title="Screenshot 2026-10-01 at 9.56.4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200" y="1837675"/>
            <a:ext cx="13198073" cy="39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idx="12" type="sldNum"/>
          </p:nvPr>
        </p:nvSpPr>
        <p:spPr>
          <a:xfrm>
            <a:off x="492475" y="7600325"/>
            <a:ext cx="196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8" name="Google Shape;338;p37" title="Screenshot 2026-10-01 at 9.59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4363"/>
            <a:ext cx="14325602" cy="3983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7" title="Screenshot 2026-10-01 at 9.58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635073"/>
            <a:ext cx="14325601" cy="1489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"/>
          <p:cNvSpPr txBox="1"/>
          <p:nvPr/>
        </p:nvSpPr>
        <p:spPr>
          <a:xfrm>
            <a:off x="492473" y="4828050"/>
            <a:ext cx="47937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" sz="2640">
                <a:solidFill>
                  <a:schemeClr val="accent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Michael Benich</a:t>
            </a:r>
            <a:endParaRPr b="0" i="0" sz="2640" u="none" cap="none" strike="noStrike">
              <a:solidFill>
                <a:schemeClr val="accent6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lang="en" sz="248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linkedin.com/in/michaelbenich</a:t>
            </a:r>
            <a:endParaRPr sz="2480">
              <a:solidFill>
                <a:schemeClr val="dk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45" name="Google Shape;345;p34" title="logo-instagram.png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383280" y="4828040"/>
            <a:ext cx="227031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4" title="logo-facebook.png"/>
          <p:cNvPicPr preferRelativeResize="0"/>
          <p:nvPr/>
        </p:nvPicPr>
        <p:blipFill rotWithShape="1">
          <a:blip r:embed="rId5">
            <a:alphaModFix amt="60000"/>
          </a:blip>
          <a:srcRect b="0" l="209" r="209" t="0"/>
          <a:stretch/>
        </p:blipFill>
        <p:spPr>
          <a:xfrm>
            <a:off x="11744365" y="4828040"/>
            <a:ext cx="22703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4" title="logo-linkedin.png"/>
          <p:cNvPicPr preferRelativeResize="0"/>
          <p:nvPr/>
        </p:nvPicPr>
        <p:blipFill rotWithShape="1">
          <a:blip r:embed="rId6">
            <a:alphaModFix amt="60000"/>
          </a:blip>
          <a:srcRect b="0" l="209" r="209" t="0"/>
          <a:stretch/>
        </p:blipFill>
        <p:spPr>
          <a:xfrm>
            <a:off x="12105450" y="4828040"/>
            <a:ext cx="22703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4" title="logo-x.png"/>
          <p:cNvPicPr preferRelativeResize="0"/>
          <p:nvPr/>
        </p:nvPicPr>
        <p:blipFill rotWithShape="1">
          <a:blip r:embed="rId7">
            <a:alphaModFix amt="60000"/>
          </a:blip>
          <a:srcRect b="0" l="209" r="209" t="0"/>
          <a:stretch/>
        </p:blipFill>
        <p:spPr>
          <a:xfrm>
            <a:off x="12466534" y="4828040"/>
            <a:ext cx="22703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4" title="logo-youtube.png"/>
          <p:cNvPicPr preferRelativeResize="0"/>
          <p:nvPr/>
        </p:nvPicPr>
        <p:blipFill rotWithShape="1">
          <a:blip r:embed="rId8">
            <a:alphaModFix amt="60000"/>
          </a:blip>
          <a:srcRect b="0" l="209" r="209" t="0"/>
          <a:stretch/>
        </p:blipFill>
        <p:spPr>
          <a:xfrm>
            <a:off x="12827619" y="4828040"/>
            <a:ext cx="22703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4" title="logo-tiktok.png"/>
          <p:cNvPicPr preferRelativeResize="0"/>
          <p:nvPr/>
        </p:nvPicPr>
        <p:blipFill rotWithShape="1">
          <a:blip r:embed="rId9">
            <a:alphaModFix amt="60000"/>
          </a:blip>
          <a:srcRect b="0" l="209" r="209" t="0"/>
          <a:stretch/>
        </p:blipFill>
        <p:spPr>
          <a:xfrm>
            <a:off x="13188704" y="4828040"/>
            <a:ext cx="22703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4" title="logo-reddit.png"/>
          <p:cNvPicPr preferRelativeResize="0"/>
          <p:nvPr/>
        </p:nvPicPr>
        <p:blipFill rotWithShape="1">
          <a:blip r:embed="rId10">
            <a:alphaModFix amt="60000"/>
          </a:blip>
          <a:srcRect b="0" l="209" r="209" t="0"/>
          <a:stretch/>
        </p:blipFill>
        <p:spPr>
          <a:xfrm>
            <a:off x="13549789" y="4828040"/>
            <a:ext cx="22703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4" title="logo-telegram.png"/>
          <p:cNvPicPr preferRelativeResize="0"/>
          <p:nvPr/>
        </p:nvPicPr>
        <p:blipFill rotWithShape="1">
          <a:blip r:embed="rId11">
            <a:alphaModFix amt="60000"/>
          </a:blip>
          <a:srcRect b="0" l="209" r="209" t="0"/>
          <a:stretch/>
        </p:blipFill>
        <p:spPr>
          <a:xfrm>
            <a:off x="13910873" y="4828040"/>
            <a:ext cx="22703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 txBox="1"/>
          <p:nvPr/>
        </p:nvSpPr>
        <p:spPr>
          <a:xfrm>
            <a:off x="492480" y="506435"/>
            <a:ext cx="44199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80"/>
              </a:spcAft>
              <a:buClr>
                <a:srgbClr val="000000"/>
              </a:buClr>
              <a:buSzPts val="3680"/>
              <a:buFont typeface="Arial"/>
              <a:buNone/>
            </a:pPr>
            <a:r>
              <a:rPr b="0" i="0" lang="en" sz="3680" u="none" cap="none" strike="noStrike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Thank you!</a:t>
            </a:r>
            <a:endParaRPr b="0" i="0" sz="3680" u="none" cap="none" strike="noStrike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cxnSp>
        <p:nvCxnSpPr>
          <p:cNvPr id="354" name="Google Shape;354;p34"/>
          <p:cNvCxnSpPr/>
          <p:nvPr/>
        </p:nvCxnSpPr>
        <p:spPr>
          <a:xfrm>
            <a:off x="478080" y="4550760"/>
            <a:ext cx="13674300" cy="0"/>
          </a:xfrm>
          <a:prstGeom prst="straightConnector1">
            <a:avLst/>
          </a:prstGeom>
          <a:noFill/>
          <a:ln cap="flat" cmpd="sng" w="152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34"/>
          <p:cNvSpPr txBox="1"/>
          <p:nvPr>
            <p:ph idx="4294967295" type="subTitle"/>
          </p:nvPr>
        </p:nvSpPr>
        <p:spPr>
          <a:xfrm>
            <a:off x="692250" y="791850"/>
            <a:ext cx="13245900" cy="5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Plus Jakarta Sans Light"/>
              <a:buNone/>
            </a:pPr>
            <a:r>
              <a:t/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lang="en" sz="3400" u="sng">
                <a:solidFill>
                  <a:schemeClr val="hlink"/>
                </a:solidFill>
                <a:hlinkClick r:id="rId12"/>
              </a:rPr>
              <a:t>eli5.zksync.io</a:t>
            </a:r>
            <a:endParaRPr sz="3400">
              <a:solidFill>
                <a:schemeClr val="accent1"/>
              </a:solidFill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Clr>
                <a:schemeClr val="accent1"/>
              </a:buClr>
              <a:buSzPts val="3400"/>
              <a:buChar char="●"/>
            </a:pPr>
            <a:r>
              <a:rPr lang="en" sz="3400">
                <a:solidFill>
                  <a:schemeClr val="accent1"/>
                </a:solidFill>
              </a:rPr>
              <a:t>zkpassport.id</a:t>
            </a:r>
            <a:endParaRPr sz="3400">
              <a:solidFill>
                <a:schemeClr val="accent1"/>
              </a:solidFill>
            </a:endParaRPr>
          </a:p>
          <a:p>
            <a:pPr indent="-444500" lvl="0" marL="457200" marR="0" rtl="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Plus Jakarta Sans Light"/>
              <a:buChar char="●"/>
            </a:pPr>
            <a:r>
              <a:rPr lang="en" sz="3400">
                <a:solidFill>
                  <a:schemeClr val="accent1"/>
                </a:solidFill>
              </a:rPr>
              <a:t>Discord demo: https://github.com/michael-bey/zkcord</a:t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00" u="none" cap="none" strike="noStrike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raken Regulatory Template">
  <a:themeElements>
    <a:clrScheme name="Simple Light">
      <a:dk1>
        <a:srgbClr val="0D0D0D"/>
      </a:dk1>
      <a:lt1>
        <a:srgbClr val="FFFFFF"/>
      </a:lt1>
      <a:dk2>
        <a:srgbClr val="6D6D6D"/>
      </a:dk2>
      <a:lt2>
        <a:srgbClr val="F7F7FA"/>
      </a:lt2>
      <a:accent1>
        <a:srgbClr val="CCCCCC"/>
      </a:accent1>
      <a:accent2>
        <a:srgbClr val="666666"/>
      </a:accent2>
      <a:accent3>
        <a:srgbClr val="B7B7B7"/>
      </a:accent3>
      <a:accent4>
        <a:srgbClr val="DFD2FE"/>
      </a:accent4>
      <a:accent5>
        <a:srgbClr val="2B1563"/>
      </a:accent5>
      <a:accent6>
        <a:srgbClr val="DC0CEE"/>
      </a:accent6>
      <a:hlink>
        <a:srgbClr val="7032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